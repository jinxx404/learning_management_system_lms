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64" r:id="rId3"/>
    <p:sldId id="263" r:id="rId4"/>
    <p:sldId id="257" r:id="rId5"/>
    <p:sldId id="269" r:id="rId6"/>
    <p:sldId id="270" r:id="rId7"/>
    <p:sldId id="271" r:id="rId8"/>
    <p:sldId id="267" r:id="rId9"/>
    <p:sldId id="260" r:id="rId10"/>
    <p:sldId id="261" r:id="rId11"/>
    <p:sldId id="262" r:id="rId12"/>
    <p:sldId id="265" r:id="rId13"/>
    <p:sldId id="266"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F77587C-36AE-4459-812C-2B26CF844EB1}">
          <p14:sldIdLst>
            <p14:sldId id="256"/>
            <p14:sldId id="264"/>
            <p14:sldId id="263"/>
            <p14:sldId id="257"/>
            <p14:sldId id="269"/>
            <p14:sldId id="270"/>
            <p14:sldId id="271"/>
            <p14:sldId id="267"/>
            <p14:sldId id="260"/>
            <p14:sldId id="261"/>
            <p14:sldId id="262"/>
            <p14:sldId id="265"/>
            <p14:sldId id="266"/>
            <p14:sldId id="268"/>
          </p14:sldIdLst>
        </p14:section>
        <p14:section name="Untitled Section" id="{DDF7EC47-751D-4545-910D-321D4802B1CA}">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3" d="100"/>
          <a:sy n="93" d="100"/>
        </p:scale>
        <p:origin x="30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5EE526-4E9E-488E-9767-E9C2E872566B}" type="datetimeFigureOut">
              <a:rPr lang="en-US" smtClean="0"/>
              <a:t>12/5/2025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E07787-D4B3-4CDB-B7F7-A77FBDFB5A50}" type="slidenum">
              <a:rPr lang="en-US" smtClean="0"/>
              <a:t>‹#›</a:t>
            </a:fld>
            <a:endParaRPr lang="en-US"/>
          </a:p>
        </p:txBody>
      </p:sp>
    </p:spTree>
    <p:extLst>
      <p:ext uri="{BB962C8B-B14F-4D97-AF65-F5344CB8AC3E}">
        <p14:creationId xmlns:p14="http://schemas.microsoft.com/office/powerpoint/2010/main" val="16534332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BC523-B4F1-49A4-C84D-99FDE4E3B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7BB73D-D22A-B028-D196-3623D478D0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EFDEE6-4350-F30D-8615-707154A33D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BA55CE-91BB-FE84-F765-9C4BA492CF48}"/>
              </a:ext>
            </a:extLst>
          </p:cNvPr>
          <p:cNvSpPr>
            <a:spLocks noGrp="1"/>
          </p:cNvSpPr>
          <p:nvPr>
            <p:ph type="sldNum" sz="quarter" idx="5"/>
          </p:nvPr>
        </p:nvSpPr>
        <p:spPr/>
        <p:txBody>
          <a:bodyPr/>
          <a:lstStyle/>
          <a:p>
            <a:fld id="{F5E07787-D4B3-4CDB-B7F7-A77FBDFB5A50}" type="slidenum">
              <a:rPr lang="en-US" smtClean="0"/>
              <a:t>3</a:t>
            </a:fld>
            <a:endParaRPr lang="en-US"/>
          </a:p>
        </p:txBody>
      </p:sp>
    </p:spTree>
    <p:extLst>
      <p:ext uri="{BB962C8B-B14F-4D97-AF65-F5344CB8AC3E}">
        <p14:creationId xmlns:p14="http://schemas.microsoft.com/office/powerpoint/2010/main" val="12449462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E07787-D4B3-4CDB-B7F7-A77FBDFB5A50}" type="slidenum">
              <a:rPr lang="en-US" smtClean="0"/>
              <a:t>4</a:t>
            </a:fld>
            <a:endParaRPr lang="en-US"/>
          </a:p>
        </p:txBody>
      </p:sp>
    </p:spTree>
    <p:extLst>
      <p:ext uri="{BB962C8B-B14F-4D97-AF65-F5344CB8AC3E}">
        <p14:creationId xmlns:p14="http://schemas.microsoft.com/office/powerpoint/2010/main" val="42838425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5C366-A0C7-8D8D-4031-5790B684DD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1FE32C-BB64-BFA4-478A-3E2586B6E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37234C-025C-05C7-8067-47BF7E463A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9E3F51-783C-F812-F066-763E56179B6B}"/>
              </a:ext>
            </a:extLst>
          </p:cNvPr>
          <p:cNvSpPr>
            <a:spLocks noGrp="1"/>
          </p:cNvSpPr>
          <p:nvPr>
            <p:ph type="sldNum" sz="quarter" idx="5"/>
          </p:nvPr>
        </p:nvSpPr>
        <p:spPr/>
        <p:txBody>
          <a:bodyPr/>
          <a:lstStyle/>
          <a:p>
            <a:fld id="{F5E07787-D4B3-4CDB-B7F7-A77FBDFB5A50}" type="slidenum">
              <a:rPr lang="en-US" smtClean="0"/>
              <a:t>5</a:t>
            </a:fld>
            <a:endParaRPr lang="en-US"/>
          </a:p>
        </p:txBody>
      </p:sp>
    </p:spTree>
    <p:extLst>
      <p:ext uri="{BB962C8B-B14F-4D97-AF65-F5344CB8AC3E}">
        <p14:creationId xmlns:p14="http://schemas.microsoft.com/office/powerpoint/2010/main" val="35559204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63B66-8F29-3D73-21A7-37C702E602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BB81E4-FFA7-01AB-6E62-8B2774C314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039D14-C803-F842-C62B-766575AB92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1D421F-0565-83DF-3C93-586D4BB2D794}"/>
              </a:ext>
            </a:extLst>
          </p:cNvPr>
          <p:cNvSpPr>
            <a:spLocks noGrp="1"/>
          </p:cNvSpPr>
          <p:nvPr>
            <p:ph type="sldNum" sz="quarter" idx="5"/>
          </p:nvPr>
        </p:nvSpPr>
        <p:spPr/>
        <p:txBody>
          <a:bodyPr/>
          <a:lstStyle/>
          <a:p>
            <a:fld id="{F5E07787-D4B3-4CDB-B7F7-A77FBDFB5A50}" type="slidenum">
              <a:rPr lang="en-US" smtClean="0"/>
              <a:t>6</a:t>
            </a:fld>
            <a:endParaRPr lang="en-US"/>
          </a:p>
        </p:txBody>
      </p:sp>
    </p:spTree>
    <p:extLst>
      <p:ext uri="{BB962C8B-B14F-4D97-AF65-F5344CB8AC3E}">
        <p14:creationId xmlns:p14="http://schemas.microsoft.com/office/powerpoint/2010/main" val="32319919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E8788-8713-DCC2-3C56-BCB27828C7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B3DA3F-ACC9-E108-4526-D017CE4F24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E1A556-76D3-08AD-9333-1BADB08E1E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097A60-DD6C-7AF9-0C95-FD6D0D32244A}"/>
              </a:ext>
            </a:extLst>
          </p:cNvPr>
          <p:cNvSpPr>
            <a:spLocks noGrp="1"/>
          </p:cNvSpPr>
          <p:nvPr>
            <p:ph type="sldNum" sz="quarter" idx="5"/>
          </p:nvPr>
        </p:nvSpPr>
        <p:spPr/>
        <p:txBody>
          <a:bodyPr/>
          <a:lstStyle/>
          <a:p>
            <a:fld id="{F5E07787-D4B3-4CDB-B7F7-A77FBDFB5A50}" type="slidenum">
              <a:rPr lang="en-US" smtClean="0"/>
              <a:t>7</a:t>
            </a:fld>
            <a:endParaRPr lang="en-US"/>
          </a:p>
        </p:txBody>
      </p:sp>
    </p:spTree>
    <p:extLst>
      <p:ext uri="{BB962C8B-B14F-4D97-AF65-F5344CB8AC3E}">
        <p14:creationId xmlns:p14="http://schemas.microsoft.com/office/powerpoint/2010/main" val="41452643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CD576-42EC-3CB6-7A44-BB2FE63884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AB5BC6-93E0-C69F-3A90-2D726FA98B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3091CD-50F2-F415-8E4C-63B9807F18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5ED900-C62B-1C85-B323-28369F3E6604}"/>
              </a:ext>
            </a:extLst>
          </p:cNvPr>
          <p:cNvSpPr>
            <a:spLocks noGrp="1"/>
          </p:cNvSpPr>
          <p:nvPr>
            <p:ph type="sldNum" sz="quarter" idx="5"/>
          </p:nvPr>
        </p:nvSpPr>
        <p:spPr/>
        <p:txBody>
          <a:bodyPr/>
          <a:lstStyle/>
          <a:p>
            <a:fld id="{F5E07787-D4B3-4CDB-B7F7-A77FBDFB5A50}" type="slidenum">
              <a:rPr lang="en-US" smtClean="0"/>
              <a:t>8</a:t>
            </a:fld>
            <a:endParaRPr lang="en-US"/>
          </a:p>
        </p:txBody>
      </p:sp>
    </p:spTree>
    <p:extLst>
      <p:ext uri="{BB962C8B-B14F-4D97-AF65-F5344CB8AC3E}">
        <p14:creationId xmlns:p14="http://schemas.microsoft.com/office/powerpoint/2010/main" val="10235299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E07787-D4B3-4CDB-B7F7-A77FBDFB5A50}" type="slidenum">
              <a:rPr lang="en-US" smtClean="0"/>
              <a:t>11</a:t>
            </a:fld>
            <a:endParaRPr lang="en-US"/>
          </a:p>
        </p:txBody>
      </p:sp>
    </p:spTree>
    <p:extLst>
      <p:ext uri="{BB962C8B-B14F-4D97-AF65-F5344CB8AC3E}">
        <p14:creationId xmlns:p14="http://schemas.microsoft.com/office/powerpoint/2010/main" val="42819712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DB826-3560-73B2-D29E-81D881E971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32D3E-7E00-2898-81D9-F848984613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AED1B7-AACB-6B81-6015-285531D35E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037BA7-F31A-0FEB-4FDB-0621290D7204}"/>
              </a:ext>
            </a:extLst>
          </p:cNvPr>
          <p:cNvSpPr>
            <a:spLocks noGrp="1"/>
          </p:cNvSpPr>
          <p:nvPr>
            <p:ph type="sldNum" sz="quarter" idx="5"/>
          </p:nvPr>
        </p:nvSpPr>
        <p:spPr/>
        <p:txBody>
          <a:bodyPr/>
          <a:lstStyle/>
          <a:p>
            <a:fld id="{F5E07787-D4B3-4CDB-B7F7-A77FBDFB5A50}" type="slidenum">
              <a:rPr lang="en-US" smtClean="0"/>
              <a:t>12</a:t>
            </a:fld>
            <a:endParaRPr lang="en-US"/>
          </a:p>
        </p:txBody>
      </p:sp>
    </p:spTree>
    <p:extLst>
      <p:ext uri="{BB962C8B-B14F-4D97-AF65-F5344CB8AC3E}">
        <p14:creationId xmlns:p14="http://schemas.microsoft.com/office/powerpoint/2010/main" val="19296709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394CA-AADF-CA2F-ACB0-5E86FD1582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259828-49FF-62D0-95DE-2B87A461A9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CEB583-C221-770E-E0C7-C6C2C90E5B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EAFE92-D14E-1598-B2C7-77471E96A5DE}"/>
              </a:ext>
            </a:extLst>
          </p:cNvPr>
          <p:cNvSpPr>
            <a:spLocks noGrp="1"/>
          </p:cNvSpPr>
          <p:nvPr>
            <p:ph type="sldNum" sz="quarter" idx="5"/>
          </p:nvPr>
        </p:nvSpPr>
        <p:spPr/>
        <p:txBody>
          <a:bodyPr/>
          <a:lstStyle/>
          <a:p>
            <a:fld id="{F5E07787-D4B3-4CDB-B7F7-A77FBDFB5A50}" type="slidenum">
              <a:rPr lang="en-US" smtClean="0"/>
              <a:t>13</a:t>
            </a:fld>
            <a:endParaRPr lang="en-US"/>
          </a:p>
        </p:txBody>
      </p:sp>
    </p:spTree>
    <p:extLst>
      <p:ext uri="{BB962C8B-B14F-4D97-AF65-F5344CB8AC3E}">
        <p14:creationId xmlns:p14="http://schemas.microsoft.com/office/powerpoint/2010/main" val="31919263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A0DA6-F661-BBD7-69AD-D863DFB8D7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19284D-5CBA-9437-A1BD-09EDC6C314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50A12B-54D5-4F97-8D3B-27AA0C96E2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C00785-4C35-64F1-E239-CDACD9F503AE}"/>
              </a:ext>
            </a:extLst>
          </p:cNvPr>
          <p:cNvSpPr>
            <a:spLocks noGrp="1"/>
          </p:cNvSpPr>
          <p:nvPr>
            <p:ph type="sldNum" sz="quarter" idx="5"/>
          </p:nvPr>
        </p:nvSpPr>
        <p:spPr/>
        <p:txBody>
          <a:bodyPr/>
          <a:lstStyle/>
          <a:p>
            <a:fld id="{F5E07787-D4B3-4CDB-B7F7-A77FBDFB5A50}" type="slidenum">
              <a:rPr lang="en-US" smtClean="0"/>
              <a:t>14</a:t>
            </a:fld>
            <a:endParaRPr lang="en-US"/>
          </a:p>
        </p:txBody>
      </p:sp>
    </p:spTree>
    <p:extLst>
      <p:ext uri="{BB962C8B-B14F-4D97-AF65-F5344CB8AC3E}">
        <p14:creationId xmlns:p14="http://schemas.microsoft.com/office/powerpoint/2010/main" val="10747218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6A9F2-1AAF-3291-C8F7-25553A8B61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F4DC69-A8C4-9324-40B0-2A5CF164F2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B2665AE-2B16-46AF-0370-277B533959C6}"/>
              </a:ext>
            </a:extLst>
          </p:cNvPr>
          <p:cNvSpPr>
            <a:spLocks noGrp="1"/>
          </p:cNvSpPr>
          <p:nvPr>
            <p:ph type="dt" sz="half" idx="10"/>
          </p:nvPr>
        </p:nvSpPr>
        <p:spPr/>
        <p:txBody>
          <a:bodyPr/>
          <a:lstStyle/>
          <a:p>
            <a:fld id="{0A6EF822-0959-4E6A-9797-48FFE14CCC20}" type="datetimeFigureOut">
              <a:rPr lang="en-US" smtClean="0"/>
              <a:t>12/5/2025</a:t>
            </a:fld>
            <a:endParaRPr lang="en-US"/>
          </a:p>
        </p:txBody>
      </p:sp>
      <p:sp>
        <p:nvSpPr>
          <p:cNvPr id="5" name="Footer Placeholder 4">
            <a:extLst>
              <a:ext uri="{FF2B5EF4-FFF2-40B4-BE49-F238E27FC236}">
                <a16:creationId xmlns:a16="http://schemas.microsoft.com/office/drawing/2014/main" id="{2B18C1B9-3BAC-258E-9786-78F1FBBEB6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E326FB-0B6D-EF3C-2907-7384B36E0652}"/>
              </a:ext>
            </a:extLst>
          </p:cNvPr>
          <p:cNvSpPr>
            <a:spLocks noGrp="1"/>
          </p:cNvSpPr>
          <p:nvPr>
            <p:ph type="sldNum" sz="quarter" idx="12"/>
          </p:nvPr>
        </p:nvSpPr>
        <p:spPr/>
        <p:txBody>
          <a:bodyPr/>
          <a:lstStyle/>
          <a:p>
            <a:fld id="{C8EA7E5E-989E-49C7-B217-1135C9DB96B6}" type="slidenum">
              <a:rPr lang="en-US" smtClean="0"/>
              <a:t>‹#›</a:t>
            </a:fld>
            <a:endParaRPr lang="en-US"/>
          </a:p>
        </p:txBody>
      </p:sp>
    </p:spTree>
    <p:extLst>
      <p:ext uri="{BB962C8B-B14F-4D97-AF65-F5344CB8AC3E}">
        <p14:creationId xmlns:p14="http://schemas.microsoft.com/office/powerpoint/2010/main" val="1105132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5FA11-A425-968C-3950-1E12BC0549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1027DB-B92C-F46A-B2FD-60E4902624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FE78A1-9740-EFC7-1FF8-1247090786BB}"/>
              </a:ext>
            </a:extLst>
          </p:cNvPr>
          <p:cNvSpPr>
            <a:spLocks noGrp="1"/>
          </p:cNvSpPr>
          <p:nvPr>
            <p:ph type="dt" sz="half" idx="10"/>
          </p:nvPr>
        </p:nvSpPr>
        <p:spPr/>
        <p:txBody>
          <a:bodyPr/>
          <a:lstStyle/>
          <a:p>
            <a:fld id="{0A6EF822-0959-4E6A-9797-48FFE14CCC20}" type="datetimeFigureOut">
              <a:rPr lang="en-US" smtClean="0"/>
              <a:t>12/5/2025</a:t>
            </a:fld>
            <a:endParaRPr lang="en-US"/>
          </a:p>
        </p:txBody>
      </p:sp>
      <p:sp>
        <p:nvSpPr>
          <p:cNvPr id="5" name="Footer Placeholder 4">
            <a:extLst>
              <a:ext uri="{FF2B5EF4-FFF2-40B4-BE49-F238E27FC236}">
                <a16:creationId xmlns:a16="http://schemas.microsoft.com/office/drawing/2014/main" id="{1034C010-5AD0-7DA1-96A7-9D2D6A7E51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32D29F-2001-F62C-E4F1-D012E2C269E4}"/>
              </a:ext>
            </a:extLst>
          </p:cNvPr>
          <p:cNvSpPr>
            <a:spLocks noGrp="1"/>
          </p:cNvSpPr>
          <p:nvPr>
            <p:ph type="sldNum" sz="quarter" idx="12"/>
          </p:nvPr>
        </p:nvSpPr>
        <p:spPr/>
        <p:txBody>
          <a:bodyPr/>
          <a:lstStyle/>
          <a:p>
            <a:fld id="{C8EA7E5E-989E-49C7-B217-1135C9DB96B6}" type="slidenum">
              <a:rPr lang="en-US" smtClean="0"/>
              <a:t>‹#›</a:t>
            </a:fld>
            <a:endParaRPr lang="en-US"/>
          </a:p>
        </p:txBody>
      </p:sp>
    </p:spTree>
    <p:extLst>
      <p:ext uri="{BB962C8B-B14F-4D97-AF65-F5344CB8AC3E}">
        <p14:creationId xmlns:p14="http://schemas.microsoft.com/office/powerpoint/2010/main" val="3604527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FA3C4-F500-731F-C102-8E1D507386D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1557C24-7C0B-3852-2AF2-C2AF464F36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329B1A-C407-3CF9-1732-8BA4A2E35806}"/>
              </a:ext>
            </a:extLst>
          </p:cNvPr>
          <p:cNvSpPr>
            <a:spLocks noGrp="1"/>
          </p:cNvSpPr>
          <p:nvPr>
            <p:ph type="dt" sz="half" idx="10"/>
          </p:nvPr>
        </p:nvSpPr>
        <p:spPr/>
        <p:txBody>
          <a:bodyPr/>
          <a:lstStyle/>
          <a:p>
            <a:fld id="{0A6EF822-0959-4E6A-9797-48FFE14CCC20}" type="datetimeFigureOut">
              <a:rPr lang="en-US" smtClean="0"/>
              <a:t>12/5/2025</a:t>
            </a:fld>
            <a:endParaRPr lang="en-US"/>
          </a:p>
        </p:txBody>
      </p:sp>
      <p:sp>
        <p:nvSpPr>
          <p:cNvPr id="5" name="Footer Placeholder 4">
            <a:extLst>
              <a:ext uri="{FF2B5EF4-FFF2-40B4-BE49-F238E27FC236}">
                <a16:creationId xmlns:a16="http://schemas.microsoft.com/office/drawing/2014/main" id="{ADC44171-359F-BA8C-3390-AAFFDBD7C1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91AECC-CE73-271A-1797-F80EC936A52B}"/>
              </a:ext>
            </a:extLst>
          </p:cNvPr>
          <p:cNvSpPr>
            <a:spLocks noGrp="1"/>
          </p:cNvSpPr>
          <p:nvPr>
            <p:ph type="sldNum" sz="quarter" idx="12"/>
          </p:nvPr>
        </p:nvSpPr>
        <p:spPr/>
        <p:txBody>
          <a:bodyPr/>
          <a:lstStyle/>
          <a:p>
            <a:fld id="{C8EA7E5E-989E-49C7-B217-1135C9DB96B6}" type="slidenum">
              <a:rPr lang="en-US" smtClean="0"/>
              <a:t>‹#›</a:t>
            </a:fld>
            <a:endParaRPr lang="en-US"/>
          </a:p>
        </p:txBody>
      </p:sp>
    </p:spTree>
    <p:extLst>
      <p:ext uri="{BB962C8B-B14F-4D97-AF65-F5344CB8AC3E}">
        <p14:creationId xmlns:p14="http://schemas.microsoft.com/office/powerpoint/2010/main" val="2633632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023EE-305C-37EC-FADB-5438D5354F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E9701A-2AE7-CB82-5503-EDB5FE4A0A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0DEA634-ADBA-3886-4401-30A67D0B775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A778C95-5F14-3EDE-8C23-1444B5D9239D}"/>
              </a:ext>
            </a:extLst>
          </p:cNvPr>
          <p:cNvSpPr>
            <a:spLocks noGrp="1"/>
          </p:cNvSpPr>
          <p:nvPr>
            <p:ph type="dt" sz="half" idx="10"/>
          </p:nvPr>
        </p:nvSpPr>
        <p:spPr/>
        <p:txBody>
          <a:bodyPr/>
          <a:lstStyle/>
          <a:p>
            <a:fld id="{0A6EF822-0959-4E6A-9797-48FFE14CCC20}" type="datetimeFigureOut">
              <a:rPr lang="en-US" smtClean="0"/>
              <a:t>12/5/2025</a:t>
            </a:fld>
            <a:endParaRPr lang="en-US"/>
          </a:p>
        </p:txBody>
      </p:sp>
      <p:sp>
        <p:nvSpPr>
          <p:cNvPr id="6" name="Footer Placeholder 5">
            <a:extLst>
              <a:ext uri="{FF2B5EF4-FFF2-40B4-BE49-F238E27FC236}">
                <a16:creationId xmlns:a16="http://schemas.microsoft.com/office/drawing/2014/main" id="{F38C1627-B102-8C97-0C29-F2A5929D36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B02D4E-0E08-328C-BC54-D865CFE8DC6D}"/>
              </a:ext>
            </a:extLst>
          </p:cNvPr>
          <p:cNvSpPr>
            <a:spLocks noGrp="1"/>
          </p:cNvSpPr>
          <p:nvPr>
            <p:ph type="sldNum" sz="quarter" idx="12"/>
          </p:nvPr>
        </p:nvSpPr>
        <p:spPr/>
        <p:txBody>
          <a:bodyPr/>
          <a:lstStyle/>
          <a:p>
            <a:fld id="{C8EA7E5E-989E-49C7-B217-1135C9DB96B6}" type="slidenum">
              <a:rPr lang="en-US" smtClean="0"/>
              <a:t>‹#›</a:t>
            </a:fld>
            <a:endParaRPr lang="en-US"/>
          </a:p>
        </p:txBody>
      </p:sp>
    </p:spTree>
    <p:extLst>
      <p:ext uri="{BB962C8B-B14F-4D97-AF65-F5344CB8AC3E}">
        <p14:creationId xmlns:p14="http://schemas.microsoft.com/office/powerpoint/2010/main" val="1042793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5C526-95C2-1324-D456-63D771C9C25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1E959D3-3220-5AB4-1C39-9BBD85A137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C5CBFF3-4094-04C2-2FBD-E98488B3E5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90F394-5297-F791-4B0F-7B81A10D26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B913F01-5104-80C0-8FBE-B7F5631882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5266E91-BBE2-DABF-CAE0-796471A54754}"/>
              </a:ext>
            </a:extLst>
          </p:cNvPr>
          <p:cNvSpPr>
            <a:spLocks noGrp="1"/>
          </p:cNvSpPr>
          <p:nvPr>
            <p:ph type="dt" sz="half" idx="10"/>
          </p:nvPr>
        </p:nvSpPr>
        <p:spPr/>
        <p:txBody>
          <a:bodyPr/>
          <a:lstStyle/>
          <a:p>
            <a:fld id="{0A6EF822-0959-4E6A-9797-48FFE14CCC20}" type="datetimeFigureOut">
              <a:rPr lang="en-US" smtClean="0"/>
              <a:t>12/5/2025</a:t>
            </a:fld>
            <a:endParaRPr lang="en-US"/>
          </a:p>
        </p:txBody>
      </p:sp>
      <p:sp>
        <p:nvSpPr>
          <p:cNvPr id="8" name="Footer Placeholder 7">
            <a:extLst>
              <a:ext uri="{FF2B5EF4-FFF2-40B4-BE49-F238E27FC236}">
                <a16:creationId xmlns:a16="http://schemas.microsoft.com/office/drawing/2014/main" id="{D0E9FBAB-77FA-D407-81A8-16F72F20DFA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0BE13A6-95CD-81F8-9AC4-7830C9E0433D}"/>
              </a:ext>
            </a:extLst>
          </p:cNvPr>
          <p:cNvSpPr>
            <a:spLocks noGrp="1"/>
          </p:cNvSpPr>
          <p:nvPr>
            <p:ph type="sldNum" sz="quarter" idx="12"/>
          </p:nvPr>
        </p:nvSpPr>
        <p:spPr/>
        <p:txBody>
          <a:bodyPr/>
          <a:lstStyle/>
          <a:p>
            <a:fld id="{C8EA7E5E-989E-49C7-B217-1135C9DB96B6}" type="slidenum">
              <a:rPr lang="en-US" smtClean="0"/>
              <a:t>‹#›</a:t>
            </a:fld>
            <a:endParaRPr lang="en-US"/>
          </a:p>
        </p:txBody>
      </p:sp>
    </p:spTree>
    <p:extLst>
      <p:ext uri="{BB962C8B-B14F-4D97-AF65-F5344CB8AC3E}">
        <p14:creationId xmlns:p14="http://schemas.microsoft.com/office/powerpoint/2010/main" val="1576481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2A4FD-DF96-C376-D5C3-7EAEB760D38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7BA81B4-7C78-2EDB-E226-24AF6D95EE94}"/>
              </a:ext>
            </a:extLst>
          </p:cNvPr>
          <p:cNvSpPr>
            <a:spLocks noGrp="1"/>
          </p:cNvSpPr>
          <p:nvPr>
            <p:ph type="dt" sz="half" idx="10"/>
          </p:nvPr>
        </p:nvSpPr>
        <p:spPr/>
        <p:txBody>
          <a:bodyPr/>
          <a:lstStyle/>
          <a:p>
            <a:fld id="{0A6EF822-0959-4E6A-9797-48FFE14CCC20}" type="datetimeFigureOut">
              <a:rPr lang="en-US" smtClean="0"/>
              <a:t>12/5/2025</a:t>
            </a:fld>
            <a:endParaRPr lang="en-US"/>
          </a:p>
        </p:txBody>
      </p:sp>
      <p:sp>
        <p:nvSpPr>
          <p:cNvPr id="4" name="Footer Placeholder 3">
            <a:extLst>
              <a:ext uri="{FF2B5EF4-FFF2-40B4-BE49-F238E27FC236}">
                <a16:creationId xmlns:a16="http://schemas.microsoft.com/office/drawing/2014/main" id="{7B10500D-2876-D456-E41A-1275C84FDC6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41157A0-BECE-72F1-BE0C-6043763860D8}"/>
              </a:ext>
            </a:extLst>
          </p:cNvPr>
          <p:cNvSpPr>
            <a:spLocks noGrp="1"/>
          </p:cNvSpPr>
          <p:nvPr>
            <p:ph type="sldNum" sz="quarter" idx="12"/>
          </p:nvPr>
        </p:nvSpPr>
        <p:spPr/>
        <p:txBody>
          <a:bodyPr/>
          <a:lstStyle/>
          <a:p>
            <a:fld id="{C8EA7E5E-989E-49C7-B217-1135C9DB96B6}" type="slidenum">
              <a:rPr lang="en-US" smtClean="0"/>
              <a:t>‹#›</a:t>
            </a:fld>
            <a:endParaRPr lang="en-US"/>
          </a:p>
        </p:txBody>
      </p:sp>
    </p:spTree>
    <p:extLst>
      <p:ext uri="{BB962C8B-B14F-4D97-AF65-F5344CB8AC3E}">
        <p14:creationId xmlns:p14="http://schemas.microsoft.com/office/powerpoint/2010/main" val="1718290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6E2E81-91E0-CAA8-1498-9D04983F6E15}"/>
              </a:ext>
            </a:extLst>
          </p:cNvPr>
          <p:cNvSpPr>
            <a:spLocks noGrp="1"/>
          </p:cNvSpPr>
          <p:nvPr>
            <p:ph type="dt" sz="half" idx="10"/>
          </p:nvPr>
        </p:nvSpPr>
        <p:spPr/>
        <p:txBody>
          <a:bodyPr/>
          <a:lstStyle/>
          <a:p>
            <a:fld id="{0A6EF822-0959-4E6A-9797-48FFE14CCC20}" type="datetimeFigureOut">
              <a:rPr lang="en-US" smtClean="0"/>
              <a:t>12/5/2025</a:t>
            </a:fld>
            <a:endParaRPr lang="en-US"/>
          </a:p>
        </p:txBody>
      </p:sp>
      <p:sp>
        <p:nvSpPr>
          <p:cNvPr id="3" name="Footer Placeholder 2">
            <a:extLst>
              <a:ext uri="{FF2B5EF4-FFF2-40B4-BE49-F238E27FC236}">
                <a16:creationId xmlns:a16="http://schemas.microsoft.com/office/drawing/2014/main" id="{55C4F179-735D-A03B-8B36-637DC5E134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3566ED3-39B2-C631-F803-D567AD454EDC}"/>
              </a:ext>
            </a:extLst>
          </p:cNvPr>
          <p:cNvSpPr>
            <a:spLocks noGrp="1"/>
          </p:cNvSpPr>
          <p:nvPr>
            <p:ph type="sldNum" sz="quarter" idx="12"/>
          </p:nvPr>
        </p:nvSpPr>
        <p:spPr/>
        <p:txBody>
          <a:bodyPr/>
          <a:lstStyle/>
          <a:p>
            <a:fld id="{C8EA7E5E-989E-49C7-B217-1135C9DB96B6}" type="slidenum">
              <a:rPr lang="en-US" smtClean="0"/>
              <a:t>‹#›</a:t>
            </a:fld>
            <a:endParaRPr lang="en-US"/>
          </a:p>
        </p:txBody>
      </p:sp>
    </p:spTree>
    <p:extLst>
      <p:ext uri="{BB962C8B-B14F-4D97-AF65-F5344CB8AC3E}">
        <p14:creationId xmlns:p14="http://schemas.microsoft.com/office/powerpoint/2010/main" val="1529305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08A25-25C7-9916-F333-A670E24987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7D13946-73D4-8F20-89DA-AAC3BF0EE9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A585184-2B0B-83CF-A45E-8919BA525B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D3B992-056C-E6E0-807A-92AC3B8EC09C}"/>
              </a:ext>
            </a:extLst>
          </p:cNvPr>
          <p:cNvSpPr>
            <a:spLocks noGrp="1"/>
          </p:cNvSpPr>
          <p:nvPr>
            <p:ph type="dt" sz="half" idx="10"/>
          </p:nvPr>
        </p:nvSpPr>
        <p:spPr/>
        <p:txBody>
          <a:bodyPr/>
          <a:lstStyle/>
          <a:p>
            <a:fld id="{0A6EF822-0959-4E6A-9797-48FFE14CCC20}" type="datetimeFigureOut">
              <a:rPr lang="en-US" smtClean="0"/>
              <a:t>12/5/2025</a:t>
            </a:fld>
            <a:endParaRPr lang="en-US"/>
          </a:p>
        </p:txBody>
      </p:sp>
      <p:sp>
        <p:nvSpPr>
          <p:cNvPr id="6" name="Footer Placeholder 5">
            <a:extLst>
              <a:ext uri="{FF2B5EF4-FFF2-40B4-BE49-F238E27FC236}">
                <a16:creationId xmlns:a16="http://schemas.microsoft.com/office/drawing/2014/main" id="{9E372F28-772B-F4C9-BC9B-8D92914018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C637AC-D49C-8D65-CFDC-6C2298C8BEBA}"/>
              </a:ext>
            </a:extLst>
          </p:cNvPr>
          <p:cNvSpPr>
            <a:spLocks noGrp="1"/>
          </p:cNvSpPr>
          <p:nvPr>
            <p:ph type="sldNum" sz="quarter" idx="12"/>
          </p:nvPr>
        </p:nvSpPr>
        <p:spPr/>
        <p:txBody>
          <a:bodyPr/>
          <a:lstStyle/>
          <a:p>
            <a:fld id="{C8EA7E5E-989E-49C7-B217-1135C9DB96B6}" type="slidenum">
              <a:rPr lang="en-US" smtClean="0"/>
              <a:t>‹#›</a:t>
            </a:fld>
            <a:endParaRPr lang="en-US"/>
          </a:p>
        </p:txBody>
      </p:sp>
    </p:spTree>
    <p:extLst>
      <p:ext uri="{BB962C8B-B14F-4D97-AF65-F5344CB8AC3E}">
        <p14:creationId xmlns:p14="http://schemas.microsoft.com/office/powerpoint/2010/main" val="1401313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68CB8-3ADA-458A-6FD3-AD745EE59F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1A20442-03EF-9C3C-8660-B672D0D04B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56C911E-F567-F0F0-40BE-7CD15E1099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5EA7AE-0B76-5959-1B19-1E54AC6F40EC}"/>
              </a:ext>
            </a:extLst>
          </p:cNvPr>
          <p:cNvSpPr>
            <a:spLocks noGrp="1"/>
          </p:cNvSpPr>
          <p:nvPr>
            <p:ph type="dt" sz="half" idx="10"/>
          </p:nvPr>
        </p:nvSpPr>
        <p:spPr/>
        <p:txBody>
          <a:bodyPr/>
          <a:lstStyle/>
          <a:p>
            <a:fld id="{0A6EF822-0959-4E6A-9797-48FFE14CCC20}" type="datetimeFigureOut">
              <a:rPr lang="en-US" smtClean="0"/>
              <a:t>12/5/2025</a:t>
            </a:fld>
            <a:endParaRPr lang="en-US"/>
          </a:p>
        </p:txBody>
      </p:sp>
      <p:sp>
        <p:nvSpPr>
          <p:cNvPr id="6" name="Footer Placeholder 5">
            <a:extLst>
              <a:ext uri="{FF2B5EF4-FFF2-40B4-BE49-F238E27FC236}">
                <a16:creationId xmlns:a16="http://schemas.microsoft.com/office/drawing/2014/main" id="{2D964D12-B828-F000-5B77-C388220A8B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C879E6-CBE3-1EEB-4B02-C878FA716A0D}"/>
              </a:ext>
            </a:extLst>
          </p:cNvPr>
          <p:cNvSpPr>
            <a:spLocks noGrp="1"/>
          </p:cNvSpPr>
          <p:nvPr>
            <p:ph type="sldNum" sz="quarter" idx="12"/>
          </p:nvPr>
        </p:nvSpPr>
        <p:spPr/>
        <p:txBody>
          <a:bodyPr/>
          <a:lstStyle/>
          <a:p>
            <a:fld id="{C8EA7E5E-989E-49C7-B217-1135C9DB96B6}" type="slidenum">
              <a:rPr lang="en-US" smtClean="0"/>
              <a:t>‹#›</a:t>
            </a:fld>
            <a:endParaRPr lang="en-US"/>
          </a:p>
        </p:txBody>
      </p:sp>
    </p:spTree>
    <p:extLst>
      <p:ext uri="{BB962C8B-B14F-4D97-AF65-F5344CB8AC3E}">
        <p14:creationId xmlns:p14="http://schemas.microsoft.com/office/powerpoint/2010/main" val="962741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9DB31-C8FB-9158-F1D6-BE8B1891096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FF5BCB-2E57-4FD1-5DE7-A26A4A947C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1C0532-14C9-4D9F-FD28-A875760C73CC}"/>
              </a:ext>
            </a:extLst>
          </p:cNvPr>
          <p:cNvSpPr>
            <a:spLocks noGrp="1"/>
          </p:cNvSpPr>
          <p:nvPr>
            <p:ph type="dt" sz="half" idx="10"/>
          </p:nvPr>
        </p:nvSpPr>
        <p:spPr/>
        <p:txBody>
          <a:bodyPr/>
          <a:lstStyle/>
          <a:p>
            <a:fld id="{0A6EF822-0959-4E6A-9797-48FFE14CCC20}" type="datetimeFigureOut">
              <a:rPr lang="en-US" smtClean="0"/>
              <a:t>12/5/2025</a:t>
            </a:fld>
            <a:endParaRPr lang="en-US"/>
          </a:p>
        </p:txBody>
      </p:sp>
      <p:sp>
        <p:nvSpPr>
          <p:cNvPr id="5" name="Footer Placeholder 4">
            <a:extLst>
              <a:ext uri="{FF2B5EF4-FFF2-40B4-BE49-F238E27FC236}">
                <a16:creationId xmlns:a16="http://schemas.microsoft.com/office/drawing/2014/main" id="{1CA23EC4-2048-3412-C6F2-417C92C880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144159-9A61-60E6-FB42-209BD6E25D89}"/>
              </a:ext>
            </a:extLst>
          </p:cNvPr>
          <p:cNvSpPr>
            <a:spLocks noGrp="1"/>
          </p:cNvSpPr>
          <p:nvPr>
            <p:ph type="sldNum" sz="quarter" idx="12"/>
          </p:nvPr>
        </p:nvSpPr>
        <p:spPr/>
        <p:txBody>
          <a:bodyPr/>
          <a:lstStyle/>
          <a:p>
            <a:fld id="{C8EA7E5E-989E-49C7-B217-1135C9DB96B6}" type="slidenum">
              <a:rPr lang="en-US" smtClean="0"/>
              <a:t>‹#›</a:t>
            </a:fld>
            <a:endParaRPr lang="en-US"/>
          </a:p>
        </p:txBody>
      </p:sp>
    </p:spTree>
    <p:extLst>
      <p:ext uri="{BB962C8B-B14F-4D97-AF65-F5344CB8AC3E}">
        <p14:creationId xmlns:p14="http://schemas.microsoft.com/office/powerpoint/2010/main" val="36718592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A7FE18-60AA-5950-7696-9C4C887D35A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B929320-F437-2CB4-71D9-1A6A1C965CB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A0A267-E0C6-7ECC-FCC8-9C37762BD4B9}"/>
              </a:ext>
            </a:extLst>
          </p:cNvPr>
          <p:cNvSpPr>
            <a:spLocks noGrp="1"/>
          </p:cNvSpPr>
          <p:nvPr>
            <p:ph type="dt" sz="half" idx="10"/>
          </p:nvPr>
        </p:nvSpPr>
        <p:spPr/>
        <p:txBody>
          <a:bodyPr/>
          <a:lstStyle/>
          <a:p>
            <a:fld id="{0A6EF822-0959-4E6A-9797-48FFE14CCC20}" type="datetimeFigureOut">
              <a:rPr lang="en-US" smtClean="0"/>
              <a:t>12/5/2025</a:t>
            </a:fld>
            <a:endParaRPr lang="en-US"/>
          </a:p>
        </p:txBody>
      </p:sp>
      <p:sp>
        <p:nvSpPr>
          <p:cNvPr id="5" name="Footer Placeholder 4">
            <a:extLst>
              <a:ext uri="{FF2B5EF4-FFF2-40B4-BE49-F238E27FC236}">
                <a16:creationId xmlns:a16="http://schemas.microsoft.com/office/drawing/2014/main" id="{8BFC2527-F932-B85B-6880-7C01B452C1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5EDFF9-6098-2647-C9F0-665291988067}"/>
              </a:ext>
            </a:extLst>
          </p:cNvPr>
          <p:cNvSpPr>
            <a:spLocks noGrp="1"/>
          </p:cNvSpPr>
          <p:nvPr>
            <p:ph type="sldNum" sz="quarter" idx="12"/>
          </p:nvPr>
        </p:nvSpPr>
        <p:spPr/>
        <p:txBody>
          <a:bodyPr/>
          <a:lstStyle/>
          <a:p>
            <a:fld id="{C8EA7E5E-989E-49C7-B217-1135C9DB96B6}" type="slidenum">
              <a:rPr lang="en-US" smtClean="0"/>
              <a:t>‹#›</a:t>
            </a:fld>
            <a:endParaRPr lang="en-US"/>
          </a:p>
        </p:txBody>
      </p:sp>
    </p:spTree>
    <p:extLst>
      <p:ext uri="{BB962C8B-B14F-4D97-AF65-F5344CB8AC3E}">
        <p14:creationId xmlns:p14="http://schemas.microsoft.com/office/powerpoint/2010/main" val="26261967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96E07E-0C75-3389-1860-C2E99EF8E2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3029232-B7AF-088A-7035-1BE964DC88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0CEFCF-8442-71F2-A642-9397A88F11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A6EF822-0959-4E6A-9797-48FFE14CCC20}" type="datetimeFigureOut">
              <a:rPr lang="en-US" smtClean="0"/>
              <a:t>12/5/2025</a:t>
            </a:fld>
            <a:endParaRPr lang="en-US"/>
          </a:p>
        </p:txBody>
      </p:sp>
      <p:sp>
        <p:nvSpPr>
          <p:cNvPr id="5" name="Footer Placeholder 4">
            <a:extLst>
              <a:ext uri="{FF2B5EF4-FFF2-40B4-BE49-F238E27FC236}">
                <a16:creationId xmlns:a16="http://schemas.microsoft.com/office/drawing/2014/main" id="{4309C2EB-B564-8210-A0E2-2B570375FE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3A8E829-CF93-10B1-794D-F8D2432252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EA7E5E-989E-49C7-B217-1135C9DB96B6}" type="slidenum">
              <a:rPr lang="en-US" smtClean="0"/>
              <a:t>‹#›</a:t>
            </a:fld>
            <a:endParaRPr lang="en-US"/>
          </a:p>
        </p:txBody>
      </p:sp>
    </p:spTree>
    <p:extLst>
      <p:ext uri="{BB962C8B-B14F-4D97-AF65-F5344CB8AC3E}">
        <p14:creationId xmlns:p14="http://schemas.microsoft.com/office/powerpoint/2010/main" val="9908262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F98F79A4-A6C7-4101-B1E9-27E05CB7C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3871489" cy="4096327"/>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33" name="Freeform: Shape 32">
            <a:extLst>
              <a:ext uri="{FF2B5EF4-FFF2-40B4-BE49-F238E27FC236}">
                <a16:creationId xmlns:a16="http://schemas.microsoft.com/office/drawing/2014/main" id="{31CE7A08-2184-4B99-ABC0-B40CD1D3F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871489" cy="4096327"/>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2" name="Title 1">
            <a:extLst>
              <a:ext uri="{FF2B5EF4-FFF2-40B4-BE49-F238E27FC236}">
                <a16:creationId xmlns:a16="http://schemas.microsoft.com/office/drawing/2014/main" id="{C70B0A75-B46C-EB85-4D22-C29A4CD6AE92}"/>
              </a:ext>
            </a:extLst>
          </p:cNvPr>
          <p:cNvSpPr>
            <a:spLocks noGrp="1"/>
          </p:cNvSpPr>
          <p:nvPr>
            <p:ph type="ctrTitle"/>
          </p:nvPr>
        </p:nvSpPr>
        <p:spPr>
          <a:xfrm>
            <a:off x="2027881" y="2907483"/>
            <a:ext cx="8483600" cy="1025328"/>
          </a:xfrm>
        </p:spPr>
        <p:txBody>
          <a:bodyPr vert="horz" lIns="91440" tIns="45720" rIns="91440" bIns="45720" rtlCol="0" anchor="ctr">
            <a:noAutofit/>
          </a:bodyPr>
          <a:lstStyle/>
          <a:p>
            <a:r>
              <a:rPr lang="en-US" sz="4000" b="1" dirty="0" err="1">
                <a:solidFill>
                  <a:schemeClr val="bg1"/>
                </a:solidFill>
              </a:rPr>
              <a:t>Academix</a:t>
            </a:r>
            <a:r>
              <a:rPr lang="en-US" sz="4000" b="1" dirty="0">
                <a:solidFill>
                  <a:schemeClr val="bg1"/>
                </a:solidFill>
              </a:rPr>
              <a:t> </a:t>
            </a:r>
            <a:br>
              <a:rPr lang="ar-EG" sz="4000" b="1" dirty="0">
                <a:solidFill>
                  <a:schemeClr val="bg1"/>
                </a:solidFill>
              </a:rPr>
            </a:br>
            <a:r>
              <a:rPr lang="en-US" sz="4000" b="1" dirty="0">
                <a:solidFill>
                  <a:schemeClr val="bg1"/>
                </a:solidFill>
              </a:rPr>
              <a:t>Learning Management System (LMS)</a:t>
            </a:r>
            <a:endParaRPr lang="en-US" sz="3200" b="1" kern="1200" dirty="0">
              <a:solidFill>
                <a:schemeClr val="bg1"/>
              </a:solidFill>
            </a:endParaRPr>
          </a:p>
        </p:txBody>
      </p:sp>
      <p:sp>
        <p:nvSpPr>
          <p:cNvPr id="35" name="Freeform: Shape 34">
            <a:extLst>
              <a:ext uri="{FF2B5EF4-FFF2-40B4-BE49-F238E27FC236}">
                <a16:creationId xmlns:a16="http://schemas.microsoft.com/office/drawing/2014/main" id="{79AFCB35-9C04-4524-A0B1-57FF6865D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7955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37" name="Freeform: Shape 36">
            <a:extLst>
              <a:ext uri="{FF2B5EF4-FFF2-40B4-BE49-F238E27FC236}">
                <a16:creationId xmlns:a16="http://schemas.microsoft.com/office/drawing/2014/main" id="{D11AD2AD-0BA0-4DD3-8EEA-84686A0E7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9192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39" name="Freeform: Shape 38">
            <a:extLst>
              <a:ext uri="{FF2B5EF4-FFF2-40B4-BE49-F238E27FC236}">
                <a16:creationId xmlns:a16="http://schemas.microsoft.com/office/drawing/2014/main" id="{9E5C5460-229E-46C8-A712-CC3179854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00654" y="4275786"/>
            <a:ext cx="2691346" cy="2582214"/>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41" name="Freeform: Shape 40">
            <a:extLst>
              <a:ext uri="{FF2B5EF4-FFF2-40B4-BE49-F238E27FC236}">
                <a16:creationId xmlns:a16="http://schemas.microsoft.com/office/drawing/2014/main" id="{2552FC29-9118-466F-940E-80C84EFDF0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00654" y="4275786"/>
            <a:ext cx="2691346" cy="2582214"/>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6">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43" name="Graphic 185">
            <a:extLst>
              <a:ext uri="{FF2B5EF4-FFF2-40B4-BE49-F238E27FC236}">
                <a16:creationId xmlns:a16="http://schemas.microsoft.com/office/drawing/2014/main" id="{0C156BF8-7FF7-440F-BE2B-417DFFE8BF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44" name="Freeform: Shape 43">
              <a:extLst>
                <a:ext uri="{FF2B5EF4-FFF2-40B4-BE49-F238E27FC236}">
                  <a16:creationId xmlns:a16="http://schemas.microsoft.com/office/drawing/2014/main" id="{B7067280-C3E7-4DF6-A345-B9FEF6EF8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A78365A8-666B-4417-9D3C-554E6E6B2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E71CAAFA-0A31-4308-AB9F-B1C84ABDF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96AB1D25-144D-4BB4-A45C-60B8A094F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069F0FB4-779A-48FC-AC33-784F177C92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08956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5A3E7F-AA30-3155-72E3-8040690F4F6D}"/>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0949E6F5-D62D-6511-5557-C573C9AEEB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E6AE34A3-50E4-BF32-7F20-FA3B9FFC0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3871489" cy="4096327"/>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33" name="Freeform: Shape 32">
            <a:extLst>
              <a:ext uri="{FF2B5EF4-FFF2-40B4-BE49-F238E27FC236}">
                <a16:creationId xmlns:a16="http://schemas.microsoft.com/office/drawing/2014/main" id="{79EC8756-BA18-9380-799E-B8E152DF27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871489" cy="4096327"/>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35" name="Freeform: Shape 34">
            <a:extLst>
              <a:ext uri="{FF2B5EF4-FFF2-40B4-BE49-F238E27FC236}">
                <a16:creationId xmlns:a16="http://schemas.microsoft.com/office/drawing/2014/main" id="{73E7ECF6-F42E-62FB-B00E-8E96899C7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7955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37" name="Freeform: Shape 36">
            <a:extLst>
              <a:ext uri="{FF2B5EF4-FFF2-40B4-BE49-F238E27FC236}">
                <a16:creationId xmlns:a16="http://schemas.microsoft.com/office/drawing/2014/main" id="{49CB10D1-601C-1045-5247-0CBC59EC18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9192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bg1"/>
          </a:solidFill>
          <a:ln w="9525" cap="flat">
            <a:noFill/>
            <a:prstDash val="solid"/>
            <a:miter/>
          </a:ln>
        </p:spPr>
        <p:txBody>
          <a:bodyPr wrap="square" rtlCol="0" anchor="ctr">
            <a:noAutofit/>
          </a:bodyPr>
          <a:lstStyle/>
          <a:p>
            <a:endParaRPr lang="en-US"/>
          </a:p>
        </p:txBody>
      </p:sp>
      <p:sp>
        <p:nvSpPr>
          <p:cNvPr id="39" name="Freeform: Shape 38">
            <a:extLst>
              <a:ext uri="{FF2B5EF4-FFF2-40B4-BE49-F238E27FC236}">
                <a16:creationId xmlns:a16="http://schemas.microsoft.com/office/drawing/2014/main" id="{AED26C96-CD42-5F97-4EDD-3D4C5B8FBA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00654" y="4275786"/>
            <a:ext cx="2691346" cy="2582214"/>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41" name="Freeform: Shape 40">
            <a:extLst>
              <a:ext uri="{FF2B5EF4-FFF2-40B4-BE49-F238E27FC236}">
                <a16:creationId xmlns:a16="http://schemas.microsoft.com/office/drawing/2014/main" id="{6898E221-D6CE-CDB4-79EE-D83F28B3DF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00654" y="4275786"/>
            <a:ext cx="2691346" cy="2582214"/>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6">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 name="Subtitle 2">
            <a:extLst>
              <a:ext uri="{FF2B5EF4-FFF2-40B4-BE49-F238E27FC236}">
                <a16:creationId xmlns:a16="http://schemas.microsoft.com/office/drawing/2014/main" id="{6B638F12-E7D6-463B-4BDE-B49D460B83DE}"/>
              </a:ext>
            </a:extLst>
          </p:cNvPr>
          <p:cNvSpPr>
            <a:spLocks noGrp="1"/>
          </p:cNvSpPr>
          <p:nvPr>
            <p:ph type="subTitle" idx="1"/>
          </p:nvPr>
        </p:nvSpPr>
        <p:spPr>
          <a:xfrm>
            <a:off x="3487413" y="1533629"/>
            <a:ext cx="5217173" cy="3926452"/>
          </a:xfrm>
        </p:spPr>
        <p:txBody>
          <a:bodyPr vert="horz" lIns="91440" tIns="45720" rIns="91440" bIns="45720" rtlCol="0">
            <a:normAutofit/>
          </a:bodyPr>
          <a:lstStyle/>
          <a:p>
            <a:pPr algn="l"/>
            <a:r>
              <a:rPr lang="en-US" sz="3600" b="1" dirty="0">
                <a:solidFill>
                  <a:srgbClr val="0070C0"/>
                </a:solidFill>
              </a:rPr>
              <a:t>Team Members:</a:t>
            </a:r>
          </a:p>
          <a:p>
            <a:pPr marL="857250" indent="-742950" algn="l">
              <a:buFont typeface="+mj-lt"/>
              <a:buAutoNum type="arabicPeriod"/>
            </a:pPr>
            <a:r>
              <a:rPr lang="en-US" sz="3600" dirty="0">
                <a:solidFill>
                  <a:schemeClr val="bg1"/>
                </a:solidFill>
              </a:rPr>
              <a:t>Abdelrahman Saad </a:t>
            </a:r>
          </a:p>
          <a:p>
            <a:pPr marL="857250" indent="-742950" algn="l">
              <a:buFont typeface="+mj-lt"/>
              <a:buAutoNum type="arabicPeriod"/>
            </a:pPr>
            <a:r>
              <a:rPr lang="en-US" sz="3600" dirty="0">
                <a:solidFill>
                  <a:schemeClr val="bg1"/>
                </a:solidFill>
              </a:rPr>
              <a:t>Moataz Mohammed</a:t>
            </a:r>
          </a:p>
          <a:p>
            <a:pPr marL="857250" indent="-742950" algn="l">
              <a:buFont typeface="+mj-lt"/>
              <a:buAutoNum type="arabicPeriod"/>
            </a:pPr>
            <a:r>
              <a:rPr lang="en-US" sz="3600" dirty="0">
                <a:solidFill>
                  <a:schemeClr val="bg1"/>
                </a:solidFill>
              </a:rPr>
              <a:t>Mohamed Sherif</a:t>
            </a:r>
          </a:p>
          <a:p>
            <a:pPr marL="857250" indent="-742950" algn="l">
              <a:buFont typeface="+mj-lt"/>
              <a:buAutoNum type="arabicPeriod"/>
            </a:pPr>
            <a:r>
              <a:rPr lang="en-US" sz="3600" dirty="0">
                <a:solidFill>
                  <a:schemeClr val="bg1"/>
                </a:solidFill>
              </a:rPr>
              <a:t>Ashraf Medhat</a:t>
            </a:r>
          </a:p>
          <a:p>
            <a:pPr marL="857250" indent="-742950" algn="l">
              <a:buFont typeface="+mj-lt"/>
              <a:buAutoNum type="arabicPeriod"/>
            </a:pPr>
            <a:r>
              <a:rPr lang="en-US" sz="3600" dirty="0">
                <a:solidFill>
                  <a:schemeClr val="bg1"/>
                </a:solidFill>
              </a:rPr>
              <a:t>Mazen Mostafa</a:t>
            </a:r>
          </a:p>
        </p:txBody>
      </p:sp>
      <p:grpSp>
        <p:nvGrpSpPr>
          <p:cNvPr id="43" name="Graphic 185">
            <a:extLst>
              <a:ext uri="{FF2B5EF4-FFF2-40B4-BE49-F238E27FC236}">
                <a16:creationId xmlns:a16="http://schemas.microsoft.com/office/drawing/2014/main" id="{AB96FBBC-8512-B79A-5EF4-F0541D0E3C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bg1"/>
          </a:solidFill>
        </p:grpSpPr>
        <p:sp>
          <p:nvSpPr>
            <p:cNvPr id="44" name="Freeform: Shape 43">
              <a:extLst>
                <a:ext uri="{FF2B5EF4-FFF2-40B4-BE49-F238E27FC236}">
                  <a16:creationId xmlns:a16="http://schemas.microsoft.com/office/drawing/2014/main" id="{1FD96214-E6D0-1E61-FC33-BF114EFBD6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0BF19D03-1BB1-8BA5-9585-A0328B1700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BDBC68CA-2298-1364-1515-13D8BB67B6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B7E087D6-9081-2747-4777-BFBBADA2AA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1E39A2DF-FF29-0E95-4CCF-1EF0917D3E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212302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96C468B-0482-A7FB-1D8C-DE41E6C212A9}"/>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0C7BD450-1735-E0D7-E654-01F271455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9B065DF8-CC63-8360-2533-9D985FBBA5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6FE821CC-D769-9053-BE8B-76CCAAEA66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7B3D69EA-D318-616C-9615-396E2D871E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49" name="Oval 48">
              <a:extLst>
                <a:ext uri="{FF2B5EF4-FFF2-40B4-BE49-F238E27FC236}">
                  <a16:creationId xmlns:a16="http://schemas.microsoft.com/office/drawing/2014/main" id="{319F3FA5-8AD2-22ED-3A78-F9C18CD71B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34DC929F-7A17-3A14-6BDE-01C0727F9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8AE960B3-3CB0-4C36-C7DA-04B22A4C23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529B4594-6B4E-5E8B-6C78-731977368E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C1CB1F5E-1EDA-A1A1-D04C-8856BBCE1C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86C5C227-2E93-636C-EB60-F6E1A18C4E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6" name="Rectangle 55">
            <a:extLst>
              <a:ext uri="{FF2B5EF4-FFF2-40B4-BE49-F238E27FC236}">
                <a16:creationId xmlns:a16="http://schemas.microsoft.com/office/drawing/2014/main" id="{B9131BAF-14BC-C479-6935-EA222FCD5F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4" y="1042604"/>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 name="Group 57">
            <a:extLst>
              <a:ext uri="{FF2B5EF4-FFF2-40B4-BE49-F238E27FC236}">
                <a16:creationId xmlns:a16="http://schemas.microsoft.com/office/drawing/2014/main" id="{99BFDAEA-04D6-1192-6FCA-B42793F0B78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59" name="Straight Connector 58">
              <a:extLst>
                <a:ext uri="{FF2B5EF4-FFF2-40B4-BE49-F238E27FC236}">
                  <a16:creationId xmlns:a16="http://schemas.microsoft.com/office/drawing/2014/main" id="{9031BAE1-712D-3331-9D2E-8EEEE8A3922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1E5A3002-79F1-C89D-194A-D4DACD01568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5CC65053-CC15-910A-565D-08F09BBED74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5A73F1BC-EE2C-66CD-252B-D3B75D504C9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grpSp>
        <p:nvGrpSpPr>
          <p:cNvPr id="64" name="Group 63">
            <a:extLst>
              <a:ext uri="{FF2B5EF4-FFF2-40B4-BE49-F238E27FC236}">
                <a16:creationId xmlns:a16="http://schemas.microsoft.com/office/drawing/2014/main" id="{7DF7160C-654A-4636-88BA-669787038A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65" name="Straight Connector 64">
              <a:extLst>
                <a:ext uri="{FF2B5EF4-FFF2-40B4-BE49-F238E27FC236}">
                  <a16:creationId xmlns:a16="http://schemas.microsoft.com/office/drawing/2014/main" id="{B620688C-511E-A254-355F-E942BD95128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964AA3CF-EF14-0F5C-3451-9F9FC33CDB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54C92C7D-D163-66C2-C803-5661B7D80D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E653AAF7-1891-EF58-B153-48FD32193D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CD235031-CB23-C659-BB18-F42D6B4B72BF}"/>
              </a:ext>
            </a:extLst>
          </p:cNvPr>
          <p:cNvSpPr>
            <a:spLocks noGrp="1"/>
          </p:cNvSpPr>
          <p:nvPr>
            <p:ph type="title"/>
          </p:nvPr>
        </p:nvSpPr>
        <p:spPr>
          <a:xfrm>
            <a:off x="630936" y="630936"/>
            <a:ext cx="4989918" cy="5478640"/>
          </a:xfrm>
          <a:noFill/>
        </p:spPr>
        <p:txBody>
          <a:bodyPr anchor="ctr">
            <a:normAutofit/>
          </a:bodyPr>
          <a:lstStyle/>
          <a:p>
            <a:r>
              <a:rPr lang="en-US" sz="4800" b="1" dirty="0">
                <a:solidFill>
                  <a:schemeClr val="accent2"/>
                </a:solidFill>
              </a:rPr>
              <a:t>Problem Statement:</a:t>
            </a:r>
          </a:p>
        </p:txBody>
      </p:sp>
      <p:sp>
        <p:nvSpPr>
          <p:cNvPr id="70" name="Rectangle 69">
            <a:extLst>
              <a:ext uri="{FF2B5EF4-FFF2-40B4-BE49-F238E27FC236}">
                <a16:creationId xmlns:a16="http://schemas.microsoft.com/office/drawing/2014/main" id="{8FBE6227-11E7-86A4-2747-155493DBA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801066" y="497785"/>
            <a:ext cx="5678424" cy="5674840"/>
          </a:xfrm>
          <a:prstGeom prst="rect">
            <a:avLst/>
          </a:prstGeom>
          <a:gradFill flip="none" rotWithShape="1">
            <a:gsLst>
              <a:gs pos="0">
                <a:schemeClr val="tx1">
                  <a:alpha val="20000"/>
                </a:schemeClr>
              </a:gs>
              <a:gs pos="100000">
                <a:schemeClr val="tx1">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ACC56FA-5ABB-EF9A-2B9E-8826606434E5}"/>
              </a:ext>
            </a:extLst>
          </p:cNvPr>
          <p:cNvSpPr>
            <a:spLocks noGrp="1"/>
          </p:cNvSpPr>
          <p:nvPr>
            <p:ph idx="1"/>
          </p:nvPr>
        </p:nvSpPr>
        <p:spPr>
          <a:xfrm>
            <a:off x="6041946" y="630936"/>
            <a:ext cx="4982273" cy="5478672"/>
          </a:xfrm>
          <a:noFill/>
        </p:spPr>
        <p:txBody>
          <a:bodyPr anchor="ctr">
            <a:normAutofit/>
          </a:bodyPr>
          <a:lstStyle/>
          <a:p>
            <a:r>
              <a:rPr lang="en-US" dirty="0">
                <a:solidFill>
                  <a:schemeClr val="bg1"/>
                </a:solidFill>
              </a:rPr>
              <a:t>Universities often rely on multiple disconnected systems to manage students, courses, and communication. </a:t>
            </a:r>
          </a:p>
          <a:p>
            <a:r>
              <a:rPr lang="en-US" dirty="0">
                <a:solidFill>
                  <a:schemeClr val="bg1"/>
                </a:solidFill>
              </a:rPr>
              <a:t>There is no centralized platform that unifies SIS and LMS operations in one structured ecosystem. </a:t>
            </a:r>
          </a:p>
          <a:p>
            <a:r>
              <a:rPr lang="en-US" dirty="0">
                <a:solidFill>
                  <a:schemeClr val="bg1"/>
                </a:solidFill>
              </a:rPr>
              <a:t>As a result, institutions face slow workflows and manual errors.</a:t>
            </a:r>
          </a:p>
        </p:txBody>
      </p:sp>
    </p:spTree>
    <p:extLst>
      <p:ext uri="{BB962C8B-B14F-4D97-AF65-F5344CB8AC3E}">
        <p14:creationId xmlns:p14="http://schemas.microsoft.com/office/powerpoint/2010/main" val="67326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5112AC23-F046-4DC5-9B92-07CA6CC7C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175AAFE7-143D-45AC-B616-09521E0F55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0BA5DB72-E109-4D37-B6DD-C328D53970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7C34EE77-74D1-42B4-801B-40B35A68C1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49" name="Oval 48">
              <a:extLst>
                <a:ext uri="{FF2B5EF4-FFF2-40B4-BE49-F238E27FC236}">
                  <a16:creationId xmlns:a16="http://schemas.microsoft.com/office/drawing/2014/main" id="{12152B4E-1BCF-43D1-814C-F560CEB522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95486774-B7FC-480F-9AAF-9F55F4C436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8FA6A4C-BA1F-4EF8-B3BD-F28CB66DE6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4BF89DB3-EA73-4FD0-AACB-5FE32C1499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CBAB203A-25C6-422F-9DB6-C69F0EE9F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574730A1-7A3A-4ACF-965D-A6DCEC7DBE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6" name="Rectangle 55">
            <a:extLst>
              <a:ext uri="{FF2B5EF4-FFF2-40B4-BE49-F238E27FC236}">
                <a16:creationId xmlns:a16="http://schemas.microsoft.com/office/drawing/2014/main" id="{EB2D1A1F-B200-4444-AE01-EFC97AF7B5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4" y="1042604"/>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 name="Group 57">
            <a:extLst>
              <a:ext uri="{FF2B5EF4-FFF2-40B4-BE49-F238E27FC236}">
                <a16:creationId xmlns:a16="http://schemas.microsoft.com/office/drawing/2014/main" id="{70E4CB9D-2256-4786-8DDF-ADFBF353374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59" name="Straight Connector 58">
              <a:extLst>
                <a:ext uri="{FF2B5EF4-FFF2-40B4-BE49-F238E27FC236}">
                  <a16:creationId xmlns:a16="http://schemas.microsoft.com/office/drawing/2014/main" id="{180841E3-DFCC-429A-B907-8B06EDB1E9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F54698A1-0C53-4620-97E1-B4689288CF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DBDFF7F-BD40-4085-952D-F6EC5908D9D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F29CA06-4FE5-44A6-8D40-A9C36449CE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grpSp>
        <p:nvGrpSpPr>
          <p:cNvPr id="64" name="Group 63">
            <a:extLst>
              <a:ext uri="{FF2B5EF4-FFF2-40B4-BE49-F238E27FC236}">
                <a16:creationId xmlns:a16="http://schemas.microsoft.com/office/drawing/2014/main" id="{568E6F37-AE05-46BF-A77F-5505926E92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65" name="Straight Connector 64">
              <a:extLst>
                <a:ext uri="{FF2B5EF4-FFF2-40B4-BE49-F238E27FC236}">
                  <a16:creationId xmlns:a16="http://schemas.microsoft.com/office/drawing/2014/main" id="{8D6F5ECB-975C-4A38-BD48-A3C2B38E9E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BF36011-C922-4FD6-B09D-781A87054B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F1FD3DC2-6A33-4C9E-B0F5-5D6209717F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0E4F800E-82BC-4AEF-9F07-7F95C8B8C3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A312A6C0-D7CB-0341-24E6-6C00F50D97ED}"/>
              </a:ext>
            </a:extLst>
          </p:cNvPr>
          <p:cNvSpPr>
            <a:spLocks noGrp="1"/>
          </p:cNvSpPr>
          <p:nvPr>
            <p:ph type="title"/>
          </p:nvPr>
        </p:nvSpPr>
        <p:spPr>
          <a:xfrm>
            <a:off x="630936" y="630936"/>
            <a:ext cx="4989918" cy="5478640"/>
          </a:xfrm>
          <a:noFill/>
        </p:spPr>
        <p:txBody>
          <a:bodyPr anchor="ctr">
            <a:normAutofit/>
          </a:bodyPr>
          <a:lstStyle/>
          <a:p>
            <a:r>
              <a:rPr lang="en-US" sz="4800" b="1" dirty="0">
                <a:solidFill>
                  <a:schemeClr val="accent2"/>
                </a:solidFill>
              </a:rPr>
              <a:t>Why This Project?</a:t>
            </a:r>
          </a:p>
        </p:txBody>
      </p:sp>
      <p:sp>
        <p:nvSpPr>
          <p:cNvPr id="70" name="Rectangle 69">
            <a:extLst>
              <a:ext uri="{FF2B5EF4-FFF2-40B4-BE49-F238E27FC236}">
                <a16:creationId xmlns:a16="http://schemas.microsoft.com/office/drawing/2014/main" id="{C8D9C5DD-B8B3-46A0-8FBC-EE462F96C4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801066" y="497785"/>
            <a:ext cx="5678424" cy="5674840"/>
          </a:xfrm>
          <a:prstGeom prst="rect">
            <a:avLst/>
          </a:prstGeom>
          <a:gradFill flip="none" rotWithShape="1">
            <a:gsLst>
              <a:gs pos="0">
                <a:schemeClr val="tx1">
                  <a:alpha val="20000"/>
                </a:schemeClr>
              </a:gs>
              <a:gs pos="100000">
                <a:schemeClr val="tx1">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376ADC5-3BCC-95AB-873C-AAD0B5E0EE42}"/>
              </a:ext>
            </a:extLst>
          </p:cNvPr>
          <p:cNvSpPr>
            <a:spLocks noGrp="1"/>
          </p:cNvSpPr>
          <p:nvPr>
            <p:ph idx="1"/>
          </p:nvPr>
        </p:nvSpPr>
        <p:spPr>
          <a:xfrm>
            <a:off x="6041946" y="630936"/>
            <a:ext cx="4982273" cy="5478672"/>
          </a:xfrm>
          <a:noFill/>
        </p:spPr>
        <p:txBody>
          <a:bodyPr anchor="ctr">
            <a:normAutofit/>
          </a:bodyPr>
          <a:lstStyle/>
          <a:p>
            <a:r>
              <a:rPr lang="en-US" dirty="0">
                <a:solidFill>
                  <a:schemeClr val="bg1"/>
                </a:solidFill>
              </a:rPr>
              <a:t>Our goal is to create a system that brings the </a:t>
            </a:r>
            <a:r>
              <a:rPr lang="en-US" b="1" dirty="0">
                <a:solidFill>
                  <a:schemeClr val="bg1"/>
                </a:solidFill>
              </a:rPr>
              <a:t>entire university lifecycle</a:t>
            </a:r>
            <a:r>
              <a:rPr lang="en-US" dirty="0">
                <a:solidFill>
                  <a:schemeClr val="bg1"/>
                </a:solidFill>
              </a:rPr>
              <a:t> into a single, organized platform—from SIS operations to complete LMS functionality.</a:t>
            </a:r>
            <a:br>
              <a:rPr lang="en-US" dirty="0">
                <a:solidFill>
                  <a:schemeClr val="bg1"/>
                </a:solidFill>
              </a:rPr>
            </a:br>
            <a:r>
              <a:rPr lang="en-US" dirty="0">
                <a:solidFill>
                  <a:schemeClr val="bg1"/>
                </a:solidFill>
              </a:rPr>
              <a:t>This project is intentionally </a:t>
            </a:r>
            <a:r>
              <a:rPr lang="en-US" b="1" dirty="0">
                <a:solidFill>
                  <a:schemeClr val="bg1"/>
                </a:solidFill>
              </a:rPr>
              <a:t>scalable and extensible</a:t>
            </a:r>
            <a:r>
              <a:rPr lang="en-US" dirty="0">
                <a:solidFill>
                  <a:schemeClr val="bg1"/>
                </a:solidFill>
              </a:rPr>
              <a:t>, ready for future modules like </a:t>
            </a:r>
            <a:r>
              <a:rPr lang="en-US" b="1" dirty="0">
                <a:solidFill>
                  <a:schemeClr val="bg1"/>
                </a:solidFill>
              </a:rPr>
              <a:t>AI quiz generation</a:t>
            </a:r>
            <a:r>
              <a:rPr lang="en-US" dirty="0">
                <a:solidFill>
                  <a:schemeClr val="bg1"/>
                </a:solidFill>
              </a:rPr>
              <a:t>, </a:t>
            </a:r>
            <a:r>
              <a:rPr lang="en-US" b="1" dirty="0">
                <a:solidFill>
                  <a:schemeClr val="bg1"/>
                </a:solidFill>
              </a:rPr>
              <a:t>smart anti-cheat quiz system</a:t>
            </a:r>
            <a:r>
              <a:rPr lang="en-US" dirty="0">
                <a:solidFill>
                  <a:schemeClr val="bg1"/>
                </a:solidFill>
              </a:rPr>
              <a:t>, </a:t>
            </a:r>
            <a:r>
              <a:rPr lang="en-US" b="1" dirty="0">
                <a:solidFill>
                  <a:schemeClr val="bg1"/>
                </a:solidFill>
              </a:rPr>
              <a:t>automated schedulers</a:t>
            </a:r>
            <a:r>
              <a:rPr lang="en-US" dirty="0">
                <a:solidFill>
                  <a:schemeClr val="bg1"/>
                </a:solidFill>
              </a:rPr>
              <a:t>, reporting dashboards.</a:t>
            </a:r>
          </a:p>
        </p:txBody>
      </p:sp>
    </p:spTree>
    <p:extLst>
      <p:ext uri="{BB962C8B-B14F-4D97-AF65-F5344CB8AC3E}">
        <p14:creationId xmlns:p14="http://schemas.microsoft.com/office/powerpoint/2010/main" val="3639373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2F1276-A6C9-CF13-D0BA-D0B19632879B}"/>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B0F6A278-A1DD-C6F2-7D15-89ABBC31B1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A33DE6AC-014D-8635-669C-7A8ECB2FC3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CF9D3324-0FD0-345E-927D-8505B19ACE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7483D427-3D9C-BF07-61AF-2EF4DD9716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49" name="Oval 48">
              <a:extLst>
                <a:ext uri="{FF2B5EF4-FFF2-40B4-BE49-F238E27FC236}">
                  <a16:creationId xmlns:a16="http://schemas.microsoft.com/office/drawing/2014/main" id="{DA2695EF-C805-E323-E319-E7E96DAB18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C84700AE-8761-093E-7C31-4AF932E179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D4C8AFF-EB9D-7BA5-5F23-9F0FCDFCF9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31A24634-8F14-662F-E562-91EEB8CC06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DFFA8F05-29E3-57A1-A381-9F7E726E79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2FCF6EF3-A20E-6061-2337-B006BB2EA1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6" name="Rectangle 55">
            <a:extLst>
              <a:ext uri="{FF2B5EF4-FFF2-40B4-BE49-F238E27FC236}">
                <a16:creationId xmlns:a16="http://schemas.microsoft.com/office/drawing/2014/main" id="{4E1BBC41-76BF-0F97-60C0-014B6343A0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4" y="1042604"/>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 name="Group 57">
            <a:extLst>
              <a:ext uri="{FF2B5EF4-FFF2-40B4-BE49-F238E27FC236}">
                <a16:creationId xmlns:a16="http://schemas.microsoft.com/office/drawing/2014/main" id="{941052C3-5E56-B1FE-7A34-699D25AF4C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59" name="Straight Connector 58">
              <a:extLst>
                <a:ext uri="{FF2B5EF4-FFF2-40B4-BE49-F238E27FC236}">
                  <a16:creationId xmlns:a16="http://schemas.microsoft.com/office/drawing/2014/main" id="{0D9FD110-AA11-42CE-234C-8AEA13B212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E4FFDA5F-23F8-2B13-265C-6B023BBBA3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0AD89CF-5FE4-06D6-78B3-42BAF808F16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B87F710C-F02C-C09F-06B7-03B86EE79F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grpSp>
        <p:nvGrpSpPr>
          <p:cNvPr id="64" name="Group 63">
            <a:extLst>
              <a:ext uri="{FF2B5EF4-FFF2-40B4-BE49-F238E27FC236}">
                <a16:creationId xmlns:a16="http://schemas.microsoft.com/office/drawing/2014/main" id="{6AB32812-7F61-157B-CA7F-A3F29BB520E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65" name="Straight Connector 64">
              <a:extLst>
                <a:ext uri="{FF2B5EF4-FFF2-40B4-BE49-F238E27FC236}">
                  <a16:creationId xmlns:a16="http://schemas.microsoft.com/office/drawing/2014/main" id="{C40E01B4-C95C-095A-4AC0-EB6E6738F49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106387E-AC9D-7A46-0C2E-7738D0B6B8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A09EF63-943B-9FFC-2DD7-C397D0EF20D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48058EA5-9264-F8D8-B665-78C951EBB1F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9547F209-D095-9442-4949-A11CCFA3C6B4}"/>
              </a:ext>
            </a:extLst>
          </p:cNvPr>
          <p:cNvSpPr>
            <a:spLocks noGrp="1"/>
          </p:cNvSpPr>
          <p:nvPr>
            <p:ph type="title"/>
          </p:nvPr>
        </p:nvSpPr>
        <p:spPr>
          <a:xfrm>
            <a:off x="58712" y="-118987"/>
            <a:ext cx="6404178" cy="1321432"/>
          </a:xfrm>
          <a:noFill/>
        </p:spPr>
        <p:txBody>
          <a:bodyPr anchor="ctr">
            <a:normAutofit fontScale="90000"/>
          </a:bodyPr>
          <a:lstStyle/>
          <a:p>
            <a:r>
              <a:rPr lang="en-US" sz="4800" b="1" dirty="0">
                <a:solidFill>
                  <a:schemeClr val="accent2"/>
                </a:solidFill>
              </a:rPr>
              <a:t>Functional Requirements:</a:t>
            </a:r>
          </a:p>
        </p:txBody>
      </p:sp>
      <p:sp>
        <p:nvSpPr>
          <p:cNvPr id="70" name="Rectangle 69">
            <a:extLst>
              <a:ext uri="{FF2B5EF4-FFF2-40B4-BE49-F238E27FC236}">
                <a16:creationId xmlns:a16="http://schemas.microsoft.com/office/drawing/2014/main" id="{FCD11F2F-B3D7-CD9C-1355-8EFAD73B42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801066" y="497785"/>
            <a:ext cx="5678424" cy="5674840"/>
          </a:xfrm>
          <a:prstGeom prst="rect">
            <a:avLst/>
          </a:prstGeom>
          <a:gradFill flip="none" rotWithShape="1">
            <a:gsLst>
              <a:gs pos="0">
                <a:schemeClr val="tx1">
                  <a:alpha val="20000"/>
                </a:schemeClr>
              </a:gs>
              <a:gs pos="100000">
                <a:schemeClr val="tx1">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3D7763D-426C-C1AF-18A9-101A463667D5}"/>
              </a:ext>
            </a:extLst>
          </p:cNvPr>
          <p:cNvSpPr>
            <a:spLocks noGrp="1"/>
          </p:cNvSpPr>
          <p:nvPr>
            <p:ph idx="1"/>
          </p:nvPr>
        </p:nvSpPr>
        <p:spPr>
          <a:xfrm>
            <a:off x="593124" y="1260388"/>
            <a:ext cx="10884574" cy="5145152"/>
          </a:xfrm>
          <a:noFill/>
        </p:spPr>
        <p:txBody>
          <a:bodyPr anchor="ctr">
            <a:normAutofit/>
          </a:bodyPr>
          <a:lstStyle/>
          <a:p>
            <a:pPr marL="0" indent="0">
              <a:buNone/>
            </a:pPr>
            <a:r>
              <a:rPr lang="en-US" b="1" dirty="0">
                <a:solidFill>
                  <a:schemeClr val="bg1"/>
                </a:solidFill>
              </a:rPr>
              <a:t>1. User Authentication &amp; Authorization</a:t>
            </a:r>
          </a:p>
          <a:p>
            <a:pPr lvl="1"/>
            <a:r>
              <a:rPr lang="en-US" dirty="0">
                <a:solidFill>
                  <a:schemeClr val="bg1"/>
                </a:solidFill>
              </a:rPr>
              <a:t>Secure login for students, instructors, and admins</a:t>
            </a:r>
          </a:p>
          <a:p>
            <a:pPr lvl="1"/>
            <a:r>
              <a:rPr lang="en-US" dirty="0">
                <a:solidFill>
                  <a:schemeClr val="bg1"/>
                </a:solidFill>
              </a:rPr>
              <a:t>Role-based access control</a:t>
            </a:r>
          </a:p>
          <a:p>
            <a:pPr lvl="1"/>
            <a:r>
              <a:rPr lang="en-US" dirty="0">
                <a:solidFill>
                  <a:schemeClr val="bg1"/>
                </a:solidFill>
              </a:rPr>
              <a:t>User profile management</a:t>
            </a:r>
          </a:p>
          <a:p>
            <a:pPr marL="0" indent="0">
              <a:buNone/>
            </a:pPr>
            <a:r>
              <a:rPr lang="en-US" b="1" dirty="0">
                <a:solidFill>
                  <a:schemeClr val="bg1"/>
                </a:solidFill>
              </a:rPr>
              <a:t>2. Course Management</a:t>
            </a:r>
          </a:p>
          <a:p>
            <a:pPr lvl="1"/>
            <a:r>
              <a:rPr lang="en-US" dirty="0">
                <a:solidFill>
                  <a:schemeClr val="bg1"/>
                </a:solidFill>
              </a:rPr>
              <a:t>Create, update, and delete courses</a:t>
            </a:r>
          </a:p>
          <a:p>
            <a:pPr lvl="1"/>
            <a:r>
              <a:rPr lang="en-US" dirty="0">
                <a:solidFill>
                  <a:schemeClr val="bg1"/>
                </a:solidFill>
              </a:rPr>
              <a:t>Assign instructors to courses</a:t>
            </a:r>
          </a:p>
          <a:p>
            <a:pPr lvl="1"/>
            <a:r>
              <a:rPr lang="en-US" dirty="0">
                <a:solidFill>
                  <a:schemeClr val="bg1"/>
                </a:solidFill>
              </a:rPr>
              <a:t>Organize lectures and learning materials</a:t>
            </a:r>
          </a:p>
          <a:p>
            <a:pPr lvl="1"/>
            <a:r>
              <a:rPr lang="en-US" dirty="0">
                <a:solidFill>
                  <a:schemeClr val="bg1"/>
                </a:solidFill>
              </a:rPr>
              <a:t>Track course enrollment</a:t>
            </a:r>
          </a:p>
          <a:p>
            <a:pPr marL="0" indent="0">
              <a:buNone/>
            </a:pPr>
            <a:r>
              <a:rPr lang="en-US" b="1" dirty="0">
                <a:solidFill>
                  <a:schemeClr val="bg1"/>
                </a:solidFill>
              </a:rPr>
              <a:t>3. Lesson &amp; Content Management</a:t>
            </a:r>
          </a:p>
          <a:p>
            <a:pPr lvl="1"/>
            <a:r>
              <a:rPr lang="en-US" dirty="0">
                <a:solidFill>
                  <a:schemeClr val="bg1"/>
                </a:solidFill>
              </a:rPr>
              <a:t>Upload files, videos, links, and learning assets</a:t>
            </a:r>
          </a:p>
          <a:p>
            <a:pPr lvl="1"/>
            <a:r>
              <a:rPr lang="en-US" dirty="0">
                <a:solidFill>
                  <a:schemeClr val="bg1"/>
                </a:solidFill>
              </a:rPr>
              <a:t>Students can view and access all course materials</a:t>
            </a:r>
          </a:p>
          <a:p>
            <a:endParaRPr lang="en-US" dirty="0">
              <a:solidFill>
                <a:schemeClr val="bg1"/>
              </a:solidFill>
            </a:endParaRPr>
          </a:p>
        </p:txBody>
      </p:sp>
    </p:spTree>
    <p:extLst>
      <p:ext uri="{BB962C8B-B14F-4D97-AF65-F5344CB8AC3E}">
        <p14:creationId xmlns:p14="http://schemas.microsoft.com/office/powerpoint/2010/main" val="19800779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89F2F95-EF62-2122-3AAF-40E8ED65EF90}"/>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67D04B9B-0451-2938-BA29-D61627E64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0CD94D7C-67F3-C9F2-2B40-4A108ECD49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709236F0-7AD6-765E-D915-8C6AC5C7A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FF737D1B-8DAF-0005-0CD9-C29DC06A944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49" name="Oval 48">
              <a:extLst>
                <a:ext uri="{FF2B5EF4-FFF2-40B4-BE49-F238E27FC236}">
                  <a16:creationId xmlns:a16="http://schemas.microsoft.com/office/drawing/2014/main" id="{CB1EA666-2602-B81A-0311-4A7F3C3ABE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A65F84DD-76AC-549E-D73B-3EEDA0C673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C9572B3-6466-AB20-1960-670DF5B448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86AD6358-1BF8-81E7-53DE-27C99C88FF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BBFEE6CE-89F8-3BEF-D736-36C60F3C82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A2046289-0F12-163F-97A3-B842F5547F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6" name="Rectangle 55">
            <a:extLst>
              <a:ext uri="{FF2B5EF4-FFF2-40B4-BE49-F238E27FC236}">
                <a16:creationId xmlns:a16="http://schemas.microsoft.com/office/drawing/2014/main" id="{1F8FF83C-9C88-5D2F-3DF1-414F2EA19A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4" y="1042604"/>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 name="Group 57">
            <a:extLst>
              <a:ext uri="{FF2B5EF4-FFF2-40B4-BE49-F238E27FC236}">
                <a16:creationId xmlns:a16="http://schemas.microsoft.com/office/drawing/2014/main" id="{0E43080B-4960-3213-3636-7BC9B5B6CE3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59" name="Straight Connector 58">
              <a:extLst>
                <a:ext uri="{FF2B5EF4-FFF2-40B4-BE49-F238E27FC236}">
                  <a16:creationId xmlns:a16="http://schemas.microsoft.com/office/drawing/2014/main" id="{56B74668-62D9-1677-E25C-FA74734F66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F8B29F4-092F-53C9-3CF3-8662034943F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67AC6FE-DCE3-35A2-127F-F9C6BA4838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0DA24683-ECA1-D6D6-F4CA-E14C92BFA4E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grpSp>
        <p:nvGrpSpPr>
          <p:cNvPr id="64" name="Group 63">
            <a:extLst>
              <a:ext uri="{FF2B5EF4-FFF2-40B4-BE49-F238E27FC236}">
                <a16:creationId xmlns:a16="http://schemas.microsoft.com/office/drawing/2014/main" id="{C899C55B-3E26-FAB9-ECAD-40D5DFF371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65" name="Straight Connector 64">
              <a:extLst>
                <a:ext uri="{FF2B5EF4-FFF2-40B4-BE49-F238E27FC236}">
                  <a16:creationId xmlns:a16="http://schemas.microsoft.com/office/drawing/2014/main" id="{888A4408-36B7-25EB-B4CC-8F5B56F5CC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392CC3EC-BF32-E111-C9D4-671C1B78F68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4D5AA03D-EF02-AD49-B83D-4251646AA0A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DDF4924-1675-6FF0-92F8-91FEF4F7FCC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0E1F2587-6D09-7D43-6C20-F9D128D0484C}"/>
              </a:ext>
            </a:extLst>
          </p:cNvPr>
          <p:cNvSpPr>
            <a:spLocks noGrp="1"/>
          </p:cNvSpPr>
          <p:nvPr>
            <p:ph type="title"/>
          </p:nvPr>
        </p:nvSpPr>
        <p:spPr>
          <a:xfrm>
            <a:off x="58712" y="-118987"/>
            <a:ext cx="6404178" cy="1321432"/>
          </a:xfrm>
          <a:noFill/>
        </p:spPr>
        <p:txBody>
          <a:bodyPr anchor="ctr">
            <a:normAutofit fontScale="90000"/>
          </a:bodyPr>
          <a:lstStyle/>
          <a:p>
            <a:r>
              <a:rPr lang="en-US" sz="4800" b="1" dirty="0">
                <a:solidFill>
                  <a:schemeClr val="accent2"/>
                </a:solidFill>
              </a:rPr>
              <a:t>Functional Requirements:</a:t>
            </a:r>
          </a:p>
        </p:txBody>
      </p:sp>
      <p:sp>
        <p:nvSpPr>
          <p:cNvPr id="70" name="Rectangle 69">
            <a:extLst>
              <a:ext uri="{FF2B5EF4-FFF2-40B4-BE49-F238E27FC236}">
                <a16:creationId xmlns:a16="http://schemas.microsoft.com/office/drawing/2014/main" id="{95E4FACA-5B2F-4318-2A14-A8FD2A902C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801066" y="497785"/>
            <a:ext cx="5678424" cy="5674840"/>
          </a:xfrm>
          <a:prstGeom prst="rect">
            <a:avLst/>
          </a:prstGeom>
          <a:gradFill flip="none" rotWithShape="1">
            <a:gsLst>
              <a:gs pos="0">
                <a:schemeClr val="tx1">
                  <a:alpha val="20000"/>
                </a:schemeClr>
              </a:gs>
              <a:gs pos="100000">
                <a:schemeClr val="tx1">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C816CBB-CB32-5415-74B4-97DA8DA02B14}"/>
              </a:ext>
            </a:extLst>
          </p:cNvPr>
          <p:cNvSpPr>
            <a:spLocks noGrp="1"/>
          </p:cNvSpPr>
          <p:nvPr>
            <p:ph idx="1"/>
          </p:nvPr>
        </p:nvSpPr>
        <p:spPr>
          <a:xfrm>
            <a:off x="593124" y="1260388"/>
            <a:ext cx="10884574" cy="5145152"/>
          </a:xfrm>
          <a:noFill/>
        </p:spPr>
        <p:txBody>
          <a:bodyPr anchor="ctr">
            <a:normAutofit fontScale="85000" lnSpcReduction="20000"/>
          </a:bodyPr>
          <a:lstStyle/>
          <a:p>
            <a:pPr marL="0" indent="0">
              <a:buNone/>
            </a:pPr>
            <a:r>
              <a:rPr lang="en-US" b="1" dirty="0">
                <a:solidFill>
                  <a:schemeClr val="bg1"/>
                </a:solidFill>
              </a:rPr>
              <a:t>3. Quiz &amp; Assessment Management</a:t>
            </a:r>
          </a:p>
          <a:p>
            <a:pPr lvl="1"/>
            <a:r>
              <a:rPr lang="en-US" dirty="0">
                <a:solidFill>
                  <a:schemeClr val="bg1"/>
                </a:solidFill>
              </a:rPr>
              <a:t>Instructors create quizzes with multiple question types</a:t>
            </a:r>
          </a:p>
          <a:p>
            <a:pPr lvl="1"/>
            <a:r>
              <a:rPr lang="en-US" dirty="0">
                <a:solidFill>
                  <a:schemeClr val="bg1"/>
                </a:solidFill>
              </a:rPr>
              <a:t>Students attempt quizzes</a:t>
            </a:r>
          </a:p>
          <a:p>
            <a:pPr lvl="1"/>
            <a:r>
              <a:rPr lang="en-US" dirty="0">
                <a:solidFill>
                  <a:schemeClr val="bg1"/>
                </a:solidFill>
              </a:rPr>
              <a:t>Automatic grading for objective questions</a:t>
            </a:r>
          </a:p>
          <a:p>
            <a:pPr lvl="1"/>
            <a:r>
              <a:rPr lang="en-US" dirty="0">
                <a:solidFill>
                  <a:schemeClr val="bg1"/>
                </a:solidFill>
              </a:rPr>
              <a:t>Instructors can override and modify grades</a:t>
            </a:r>
          </a:p>
          <a:p>
            <a:pPr marL="0" indent="0">
              <a:buNone/>
            </a:pPr>
            <a:r>
              <a:rPr lang="en-US" b="1" dirty="0">
                <a:solidFill>
                  <a:schemeClr val="bg1"/>
                </a:solidFill>
              </a:rPr>
              <a:t>4. Enrollment &amp; Academic Term Management</a:t>
            </a:r>
          </a:p>
          <a:p>
            <a:pPr lvl="1"/>
            <a:r>
              <a:rPr lang="en-US" dirty="0">
                <a:solidFill>
                  <a:schemeClr val="bg1"/>
                </a:solidFill>
              </a:rPr>
              <a:t>Admin manages academic terms</a:t>
            </a:r>
          </a:p>
          <a:p>
            <a:pPr lvl="1"/>
            <a:r>
              <a:rPr lang="en-US" dirty="0">
                <a:solidFill>
                  <a:schemeClr val="bg1"/>
                </a:solidFill>
              </a:rPr>
              <a:t>Students are enrolled into courses by admin</a:t>
            </a:r>
          </a:p>
          <a:p>
            <a:pPr lvl="1"/>
            <a:r>
              <a:rPr lang="en-US" dirty="0">
                <a:solidFill>
                  <a:schemeClr val="bg1"/>
                </a:solidFill>
              </a:rPr>
              <a:t>Prevent duplicate enrollment</a:t>
            </a:r>
          </a:p>
          <a:p>
            <a:pPr marL="0" indent="0">
              <a:buNone/>
            </a:pPr>
            <a:r>
              <a:rPr lang="en-US" b="1" dirty="0">
                <a:solidFill>
                  <a:schemeClr val="bg1"/>
                </a:solidFill>
              </a:rPr>
              <a:t>5. Grading &amp; Reporting</a:t>
            </a:r>
          </a:p>
          <a:p>
            <a:pPr lvl="1"/>
            <a:r>
              <a:rPr lang="en-US" dirty="0" err="1">
                <a:solidFill>
                  <a:schemeClr val="bg1"/>
                </a:solidFill>
              </a:rPr>
              <a:t>GradeBook</a:t>
            </a:r>
            <a:r>
              <a:rPr lang="en-US" dirty="0">
                <a:solidFill>
                  <a:schemeClr val="bg1"/>
                </a:solidFill>
              </a:rPr>
              <a:t> automatically created for each course</a:t>
            </a:r>
          </a:p>
          <a:p>
            <a:pPr lvl="1"/>
            <a:r>
              <a:rPr lang="en-US" dirty="0">
                <a:solidFill>
                  <a:schemeClr val="bg1"/>
                </a:solidFill>
              </a:rPr>
              <a:t>Grades stored and calculated per student</a:t>
            </a:r>
          </a:p>
          <a:p>
            <a:pPr lvl="1"/>
            <a:r>
              <a:rPr lang="en-US" dirty="0">
                <a:solidFill>
                  <a:schemeClr val="bg1"/>
                </a:solidFill>
              </a:rPr>
              <a:t>Admin and instructors can access reports and analytics</a:t>
            </a:r>
          </a:p>
          <a:p>
            <a:pPr marL="0" indent="0">
              <a:buNone/>
            </a:pPr>
            <a:r>
              <a:rPr lang="en-US" b="1" dirty="0">
                <a:solidFill>
                  <a:schemeClr val="bg1"/>
                </a:solidFill>
              </a:rPr>
              <a:t>6. Notifications &amp; Announcements</a:t>
            </a:r>
          </a:p>
          <a:p>
            <a:pPr lvl="1"/>
            <a:r>
              <a:rPr lang="en-US" dirty="0">
                <a:solidFill>
                  <a:schemeClr val="bg1"/>
                </a:solidFill>
              </a:rPr>
              <a:t>Send announcements to students</a:t>
            </a:r>
          </a:p>
          <a:p>
            <a:pPr lvl="1"/>
            <a:r>
              <a:rPr lang="en-US" dirty="0">
                <a:solidFill>
                  <a:schemeClr val="bg1"/>
                </a:solidFill>
              </a:rPr>
              <a:t>Notify users of grades, updates, and new materials</a:t>
            </a:r>
          </a:p>
          <a:p>
            <a:pPr lvl="1"/>
            <a:r>
              <a:rPr lang="en-US" dirty="0">
                <a:solidFill>
                  <a:schemeClr val="bg1"/>
                </a:solidFill>
              </a:rPr>
              <a:t>Mark notifications as read</a:t>
            </a:r>
          </a:p>
          <a:p>
            <a:endParaRPr lang="en-US" dirty="0">
              <a:solidFill>
                <a:schemeClr val="bg1"/>
              </a:solidFill>
            </a:endParaRPr>
          </a:p>
        </p:txBody>
      </p:sp>
    </p:spTree>
    <p:extLst>
      <p:ext uri="{BB962C8B-B14F-4D97-AF65-F5344CB8AC3E}">
        <p14:creationId xmlns:p14="http://schemas.microsoft.com/office/powerpoint/2010/main" val="3554727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1AC026-612E-9D42-2D22-083E499F45B1}"/>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AE3BA614-27C8-5DE9-8B25-2E68DD1B58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3E9D6050-690A-D0CE-4C2A-084CD67595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0ABA85F2-0910-B43A-B384-4C19D79256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D163626E-296E-3380-5486-455ACD65AB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49" name="Oval 48">
              <a:extLst>
                <a:ext uri="{FF2B5EF4-FFF2-40B4-BE49-F238E27FC236}">
                  <a16:creationId xmlns:a16="http://schemas.microsoft.com/office/drawing/2014/main" id="{9A5D38A0-DC5B-9627-93E2-EAA7A95BAF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D381F6EE-1B93-E3AB-6807-6E9028BB3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500578DE-D266-B13A-5299-DA739448B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E62F0EC2-7162-84D2-3F16-02D0BEFAF6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37B645F5-62DC-C91B-22E9-F743AD20A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776F8088-6D4E-68F4-FE0D-FBBAD60E18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6" name="Rectangle 55">
            <a:extLst>
              <a:ext uri="{FF2B5EF4-FFF2-40B4-BE49-F238E27FC236}">
                <a16:creationId xmlns:a16="http://schemas.microsoft.com/office/drawing/2014/main" id="{738EAF9D-C2C6-9CBA-FEC0-A2D040A5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4" y="1042604"/>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 name="Group 57">
            <a:extLst>
              <a:ext uri="{FF2B5EF4-FFF2-40B4-BE49-F238E27FC236}">
                <a16:creationId xmlns:a16="http://schemas.microsoft.com/office/drawing/2014/main" id="{0A05B6CE-ACCA-2C53-95F9-AA3DF5C192C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59" name="Straight Connector 58">
              <a:extLst>
                <a:ext uri="{FF2B5EF4-FFF2-40B4-BE49-F238E27FC236}">
                  <a16:creationId xmlns:a16="http://schemas.microsoft.com/office/drawing/2014/main" id="{CF547014-DB6B-59A2-F441-16D148E4510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5359799A-8A6E-C26D-D4FF-7A9589AD86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D2638A78-6A43-3C0E-0DAA-1A34812D3D6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39D7457-EA00-A363-84D1-CE7B3F3D346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grpSp>
        <p:nvGrpSpPr>
          <p:cNvPr id="64" name="Group 63">
            <a:extLst>
              <a:ext uri="{FF2B5EF4-FFF2-40B4-BE49-F238E27FC236}">
                <a16:creationId xmlns:a16="http://schemas.microsoft.com/office/drawing/2014/main" id="{5928E312-CFC0-F726-5515-9851B976FB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65" name="Straight Connector 64">
              <a:extLst>
                <a:ext uri="{FF2B5EF4-FFF2-40B4-BE49-F238E27FC236}">
                  <a16:creationId xmlns:a16="http://schemas.microsoft.com/office/drawing/2014/main" id="{FD74CFC5-A86B-E07D-BF9B-E5532BDBAF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275E7EC5-4568-B562-77A4-1FB969C5E8F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15907D58-8D79-581F-FED4-1D02A61E52F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2D180849-5DC2-B9A6-EC98-8B8EF256A4A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53C7C680-A997-068B-77A1-C092C3FA541C}"/>
              </a:ext>
            </a:extLst>
          </p:cNvPr>
          <p:cNvSpPr>
            <a:spLocks noGrp="1"/>
          </p:cNvSpPr>
          <p:nvPr>
            <p:ph type="title"/>
          </p:nvPr>
        </p:nvSpPr>
        <p:spPr>
          <a:xfrm>
            <a:off x="58712" y="-118987"/>
            <a:ext cx="7355342" cy="1321432"/>
          </a:xfrm>
          <a:noFill/>
        </p:spPr>
        <p:txBody>
          <a:bodyPr anchor="ctr">
            <a:normAutofit fontScale="90000"/>
          </a:bodyPr>
          <a:lstStyle/>
          <a:p>
            <a:r>
              <a:rPr lang="en-US" sz="4800" b="1" dirty="0">
                <a:solidFill>
                  <a:schemeClr val="accent2"/>
                </a:solidFill>
              </a:rPr>
              <a:t>Non-Functional Requirements:</a:t>
            </a:r>
            <a:endParaRPr lang="en-US" sz="4800" b="1" dirty="0">
              <a:solidFill>
                <a:schemeClr val="bg1"/>
              </a:solidFill>
            </a:endParaRPr>
          </a:p>
        </p:txBody>
      </p:sp>
      <p:sp>
        <p:nvSpPr>
          <p:cNvPr id="70" name="Rectangle 69">
            <a:extLst>
              <a:ext uri="{FF2B5EF4-FFF2-40B4-BE49-F238E27FC236}">
                <a16:creationId xmlns:a16="http://schemas.microsoft.com/office/drawing/2014/main" id="{C7140DAB-155A-BCA0-6725-1E6A120F73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801066" y="497785"/>
            <a:ext cx="5678424" cy="5674840"/>
          </a:xfrm>
          <a:prstGeom prst="rect">
            <a:avLst/>
          </a:prstGeom>
          <a:gradFill flip="none" rotWithShape="1">
            <a:gsLst>
              <a:gs pos="0">
                <a:schemeClr val="tx1">
                  <a:alpha val="20000"/>
                </a:schemeClr>
              </a:gs>
              <a:gs pos="100000">
                <a:schemeClr val="tx1">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ED46D8D-A966-E556-BDE1-DCBE68990F33}"/>
              </a:ext>
            </a:extLst>
          </p:cNvPr>
          <p:cNvSpPr>
            <a:spLocks noGrp="1"/>
          </p:cNvSpPr>
          <p:nvPr>
            <p:ph idx="1"/>
          </p:nvPr>
        </p:nvSpPr>
        <p:spPr>
          <a:xfrm>
            <a:off x="593124" y="1260388"/>
            <a:ext cx="10884574" cy="5145152"/>
          </a:xfrm>
          <a:noFill/>
        </p:spPr>
        <p:txBody>
          <a:bodyPr anchor="ctr">
            <a:normAutofit fontScale="92500" lnSpcReduction="10000"/>
          </a:bodyPr>
          <a:lstStyle/>
          <a:p>
            <a:pPr marL="0" indent="0">
              <a:buNone/>
            </a:pPr>
            <a:r>
              <a:rPr lang="en-US" b="1" dirty="0">
                <a:solidFill>
                  <a:schemeClr val="bg1"/>
                </a:solidFill>
              </a:rPr>
              <a:t>1. Scalability</a:t>
            </a:r>
          </a:p>
          <a:p>
            <a:pPr lvl="1"/>
            <a:r>
              <a:rPr lang="en-US" dirty="0">
                <a:solidFill>
                  <a:schemeClr val="bg1"/>
                </a:solidFill>
              </a:rPr>
              <a:t>Architecture designed to grow with additional modules (AI, scheduling, anti-cheat)</a:t>
            </a:r>
          </a:p>
          <a:p>
            <a:pPr lvl="1"/>
            <a:r>
              <a:rPr lang="en-US" dirty="0">
                <a:solidFill>
                  <a:schemeClr val="bg1"/>
                </a:solidFill>
              </a:rPr>
              <a:t>Database structured for future expansion</a:t>
            </a:r>
          </a:p>
          <a:p>
            <a:pPr marL="0" indent="0">
              <a:buNone/>
            </a:pPr>
            <a:r>
              <a:rPr lang="en-US" b="1" dirty="0">
                <a:solidFill>
                  <a:schemeClr val="bg1"/>
                </a:solidFill>
              </a:rPr>
              <a:t>2. Security</a:t>
            </a:r>
          </a:p>
          <a:p>
            <a:pPr lvl="1"/>
            <a:r>
              <a:rPr lang="en-US" dirty="0">
                <a:solidFill>
                  <a:schemeClr val="bg1"/>
                </a:solidFill>
              </a:rPr>
              <a:t>Password hashing and secure authentication</a:t>
            </a:r>
          </a:p>
          <a:p>
            <a:pPr lvl="1"/>
            <a:r>
              <a:rPr lang="en-US" dirty="0">
                <a:solidFill>
                  <a:schemeClr val="bg1"/>
                </a:solidFill>
              </a:rPr>
              <a:t>Enforced role-based permissions</a:t>
            </a:r>
          </a:p>
          <a:p>
            <a:pPr marL="0" indent="0">
              <a:buNone/>
            </a:pPr>
            <a:r>
              <a:rPr lang="en-US" b="1" dirty="0">
                <a:solidFill>
                  <a:schemeClr val="bg1"/>
                </a:solidFill>
              </a:rPr>
              <a:t>3. Usability</a:t>
            </a:r>
          </a:p>
          <a:p>
            <a:pPr lvl="1"/>
            <a:r>
              <a:rPr lang="en-US" dirty="0">
                <a:solidFill>
                  <a:schemeClr val="bg1"/>
                </a:solidFill>
              </a:rPr>
              <a:t>Clean UI with consistent navigation</a:t>
            </a:r>
          </a:p>
          <a:p>
            <a:pPr lvl="1"/>
            <a:r>
              <a:rPr lang="en-US" dirty="0">
                <a:solidFill>
                  <a:schemeClr val="bg1"/>
                </a:solidFill>
              </a:rPr>
              <a:t>Mobile-responsive interface</a:t>
            </a:r>
          </a:p>
          <a:p>
            <a:pPr lvl="1"/>
            <a:r>
              <a:rPr lang="en-US" dirty="0">
                <a:solidFill>
                  <a:schemeClr val="bg1"/>
                </a:solidFill>
              </a:rPr>
              <a:t>Accessible for all user roles</a:t>
            </a:r>
          </a:p>
          <a:p>
            <a:pPr marL="0" indent="0">
              <a:buNone/>
            </a:pPr>
            <a:r>
              <a:rPr lang="en-US" b="1" dirty="0">
                <a:solidFill>
                  <a:schemeClr val="bg1"/>
                </a:solidFill>
              </a:rPr>
              <a:t>4. Maintainability</a:t>
            </a:r>
          </a:p>
          <a:p>
            <a:pPr lvl="1"/>
            <a:r>
              <a:rPr lang="en-US" dirty="0">
                <a:solidFill>
                  <a:schemeClr val="bg1"/>
                </a:solidFill>
              </a:rPr>
              <a:t>MVC architecture for clean separation of concerns</a:t>
            </a:r>
          </a:p>
          <a:p>
            <a:pPr lvl="1"/>
            <a:r>
              <a:rPr lang="en-US" dirty="0">
                <a:solidFill>
                  <a:schemeClr val="bg1"/>
                </a:solidFill>
              </a:rPr>
              <a:t>Modular database with stored procedures, triggers, and views</a:t>
            </a:r>
          </a:p>
          <a:p>
            <a:pPr lvl="1"/>
            <a:r>
              <a:rPr lang="en-US" dirty="0">
                <a:solidFill>
                  <a:schemeClr val="bg1"/>
                </a:solidFill>
              </a:rPr>
              <a:t>Easy to update and extend</a:t>
            </a:r>
          </a:p>
        </p:txBody>
      </p:sp>
    </p:spTree>
    <p:extLst>
      <p:ext uri="{BB962C8B-B14F-4D97-AF65-F5344CB8AC3E}">
        <p14:creationId xmlns:p14="http://schemas.microsoft.com/office/powerpoint/2010/main" val="3268569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5A9296-DBB7-C0A7-E714-DA6B9C22FD58}"/>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38AB1581-0417-216B-08F2-8D2CFD18CD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F560671E-2FE1-0BA9-1EDB-089DC147EC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D8D2F52C-ED1B-6FB4-BFD6-70C6444203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AEF7478C-4427-A8BA-75F5-D4EEAB3ED7E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49" name="Oval 48">
              <a:extLst>
                <a:ext uri="{FF2B5EF4-FFF2-40B4-BE49-F238E27FC236}">
                  <a16:creationId xmlns:a16="http://schemas.microsoft.com/office/drawing/2014/main" id="{131357C3-2843-ABB6-38FC-491246959B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5B11C94B-00E1-6580-E946-B01E94F5B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195F2972-FDE0-88E1-B809-30D8E53946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A2E21C4E-643E-CE86-AAD0-83C4AECF58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08172787-9F0D-B6B8-7A88-37E1688BD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BEC87EAA-23B4-BE63-85E5-A1246E7F36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6" name="Rectangle 55">
            <a:extLst>
              <a:ext uri="{FF2B5EF4-FFF2-40B4-BE49-F238E27FC236}">
                <a16:creationId xmlns:a16="http://schemas.microsoft.com/office/drawing/2014/main" id="{41EEAB4A-5C9B-B5F3-FA66-3F6389B75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4" y="1042604"/>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 name="Group 57">
            <a:extLst>
              <a:ext uri="{FF2B5EF4-FFF2-40B4-BE49-F238E27FC236}">
                <a16:creationId xmlns:a16="http://schemas.microsoft.com/office/drawing/2014/main" id="{2B0D5751-E77F-AD13-8FA3-59D18344D53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59" name="Straight Connector 58">
              <a:extLst>
                <a:ext uri="{FF2B5EF4-FFF2-40B4-BE49-F238E27FC236}">
                  <a16:creationId xmlns:a16="http://schemas.microsoft.com/office/drawing/2014/main" id="{0F2A1E6E-91F1-2363-E941-557FB64FD66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41EE3F2F-C45A-4FF1-2A0F-C349F2E5005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8A3FEAB-DB56-C469-DDC4-80F4823CF50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51EB969F-6B7F-8068-D9FD-484E9D3E192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grpSp>
        <p:nvGrpSpPr>
          <p:cNvPr id="64" name="Group 63">
            <a:extLst>
              <a:ext uri="{FF2B5EF4-FFF2-40B4-BE49-F238E27FC236}">
                <a16:creationId xmlns:a16="http://schemas.microsoft.com/office/drawing/2014/main" id="{362C6203-28B2-6A74-816A-0EA3AAAE23C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65" name="Straight Connector 64">
              <a:extLst>
                <a:ext uri="{FF2B5EF4-FFF2-40B4-BE49-F238E27FC236}">
                  <a16:creationId xmlns:a16="http://schemas.microsoft.com/office/drawing/2014/main" id="{89587F23-2D32-F060-CB04-A05A4EA4450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18FE8C4-2D53-319E-625C-542672642D1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7A5C5A3D-FAD7-2E60-EB3C-E00FF1EA677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444CF128-7A86-25C0-472B-25DA284688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1C4A83E2-7845-7452-5DB7-05221249A323}"/>
              </a:ext>
            </a:extLst>
          </p:cNvPr>
          <p:cNvSpPr>
            <a:spLocks noGrp="1"/>
          </p:cNvSpPr>
          <p:nvPr>
            <p:ph type="title"/>
          </p:nvPr>
        </p:nvSpPr>
        <p:spPr>
          <a:xfrm>
            <a:off x="630936" y="630936"/>
            <a:ext cx="4989918" cy="5478640"/>
          </a:xfrm>
          <a:noFill/>
        </p:spPr>
        <p:txBody>
          <a:bodyPr anchor="ctr">
            <a:normAutofit/>
          </a:bodyPr>
          <a:lstStyle/>
          <a:p>
            <a:r>
              <a:rPr lang="en-US" sz="4800" b="1" dirty="0">
                <a:solidFill>
                  <a:schemeClr val="accent2"/>
                </a:solidFill>
              </a:rPr>
              <a:t>System Roles:</a:t>
            </a:r>
          </a:p>
        </p:txBody>
      </p:sp>
      <p:sp>
        <p:nvSpPr>
          <p:cNvPr id="70" name="Rectangle 69">
            <a:extLst>
              <a:ext uri="{FF2B5EF4-FFF2-40B4-BE49-F238E27FC236}">
                <a16:creationId xmlns:a16="http://schemas.microsoft.com/office/drawing/2014/main" id="{1772B749-15DC-2485-A091-C01695A4D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801066" y="497785"/>
            <a:ext cx="5678424" cy="5674840"/>
          </a:xfrm>
          <a:prstGeom prst="rect">
            <a:avLst/>
          </a:prstGeom>
          <a:gradFill flip="none" rotWithShape="1">
            <a:gsLst>
              <a:gs pos="0">
                <a:schemeClr val="tx1">
                  <a:alpha val="20000"/>
                </a:schemeClr>
              </a:gs>
              <a:gs pos="100000">
                <a:schemeClr val="tx1">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492BFFA-1676-1A0D-33BE-9D350BABE85D}"/>
              </a:ext>
            </a:extLst>
          </p:cNvPr>
          <p:cNvSpPr>
            <a:spLocks noGrp="1"/>
          </p:cNvSpPr>
          <p:nvPr>
            <p:ph idx="1"/>
          </p:nvPr>
        </p:nvSpPr>
        <p:spPr>
          <a:xfrm>
            <a:off x="6041946" y="630936"/>
            <a:ext cx="4982273" cy="5478672"/>
          </a:xfrm>
          <a:noFill/>
        </p:spPr>
        <p:txBody>
          <a:bodyPr anchor="ctr">
            <a:normAutofit fontScale="92500" lnSpcReduction="20000"/>
          </a:bodyPr>
          <a:lstStyle/>
          <a:p>
            <a:r>
              <a:rPr lang="en-US" b="1" dirty="0">
                <a:solidFill>
                  <a:schemeClr val="bg1"/>
                </a:solidFill>
              </a:rPr>
              <a:t>Admin</a:t>
            </a:r>
            <a:endParaRPr lang="en-US" dirty="0">
              <a:solidFill>
                <a:schemeClr val="bg1"/>
              </a:solidFill>
            </a:endParaRPr>
          </a:p>
          <a:p>
            <a:pPr lvl="1"/>
            <a:r>
              <a:rPr lang="en-US" dirty="0">
                <a:solidFill>
                  <a:schemeClr val="bg1"/>
                </a:solidFill>
              </a:rPr>
              <a:t>User management</a:t>
            </a:r>
          </a:p>
          <a:p>
            <a:pPr lvl="1"/>
            <a:r>
              <a:rPr lang="en-US" dirty="0">
                <a:solidFill>
                  <a:schemeClr val="bg1"/>
                </a:solidFill>
              </a:rPr>
              <a:t>Course + term management</a:t>
            </a:r>
          </a:p>
          <a:p>
            <a:pPr lvl="1"/>
            <a:r>
              <a:rPr lang="en-US" dirty="0">
                <a:solidFill>
                  <a:schemeClr val="bg1"/>
                </a:solidFill>
              </a:rPr>
              <a:t>Create/manage courses</a:t>
            </a:r>
          </a:p>
          <a:p>
            <a:pPr lvl="1"/>
            <a:r>
              <a:rPr lang="en-US" dirty="0">
                <a:solidFill>
                  <a:schemeClr val="bg1"/>
                </a:solidFill>
              </a:rPr>
              <a:t>System control</a:t>
            </a:r>
          </a:p>
          <a:p>
            <a:pPr lvl="1"/>
            <a:r>
              <a:rPr lang="en-US" dirty="0">
                <a:solidFill>
                  <a:schemeClr val="bg1"/>
                </a:solidFill>
              </a:rPr>
              <a:t>Reports</a:t>
            </a:r>
          </a:p>
          <a:p>
            <a:r>
              <a:rPr lang="en-US" b="1" dirty="0">
                <a:solidFill>
                  <a:schemeClr val="bg1"/>
                </a:solidFill>
              </a:rPr>
              <a:t>Instructor</a:t>
            </a:r>
            <a:endParaRPr lang="en-US" dirty="0">
              <a:solidFill>
                <a:schemeClr val="bg1"/>
              </a:solidFill>
            </a:endParaRPr>
          </a:p>
          <a:p>
            <a:pPr lvl="1"/>
            <a:r>
              <a:rPr lang="en-US" dirty="0">
                <a:solidFill>
                  <a:schemeClr val="bg1"/>
                </a:solidFill>
              </a:rPr>
              <a:t>Upload lectures/materials</a:t>
            </a:r>
          </a:p>
          <a:p>
            <a:pPr lvl="1"/>
            <a:r>
              <a:rPr lang="en-US" dirty="0">
                <a:solidFill>
                  <a:schemeClr val="bg1"/>
                </a:solidFill>
              </a:rPr>
              <a:t>Create quizzes</a:t>
            </a:r>
          </a:p>
          <a:p>
            <a:pPr lvl="1"/>
            <a:r>
              <a:rPr lang="en-US" dirty="0">
                <a:solidFill>
                  <a:schemeClr val="bg1"/>
                </a:solidFill>
              </a:rPr>
              <a:t>Announcements</a:t>
            </a:r>
          </a:p>
          <a:p>
            <a:r>
              <a:rPr lang="en-US" b="1" dirty="0">
                <a:solidFill>
                  <a:schemeClr val="bg1"/>
                </a:solidFill>
              </a:rPr>
              <a:t>Student</a:t>
            </a:r>
            <a:endParaRPr lang="en-US" dirty="0">
              <a:solidFill>
                <a:schemeClr val="bg1"/>
              </a:solidFill>
            </a:endParaRPr>
          </a:p>
          <a:p>
            <a:pPr lvl="1"/>
            <a:r>
              <a:rPr lang="en-US" dirty="0">
                <a:solidFill>
                  <a:schemeClr val="bg1"/>
                </a:solidFill>
              </a:rPr>
              <a:t>View enrolled courses</a:t>
            </a:r>
          </a:p>
          <a:p>
            <a:pPr lvl="1"/>
            <a:r>
              <a:rPr lang="en-US" dirty="0">
                <a:solidFill>
                  <a:schemeClr val="bg1"/>
                </a:solidFill>
              </a:rPr>
              <a:t>Access learning content</a:t>
            </a:r>
          </a:p>
          <a:p>
            <a:pPr lvl="1"/>
            <a:r>
              <a:rPr lang="en-US" dirty="0">
                <a:solidFill>
                  <a:schemeClr val="bg1"/>
                </a:solidFill>
              </a:rPr>
              <a:t>Take quizzes</a:t>
            </a:r>
          </a:p>
          <a:p>
            <a:pPr lvl="1"/>
            <a:r>
              <a:rPr lang="en-US" dirty="0">
                <a:solidFill>
                  <a:schemeClr val="bg1"/>
                </a:solidFill>
              </a:rPr>
              <a:t>View grades</a:t>
            </a:r>
          </a:p>
          <a:p>
            <a:pPr lvl="1"/>
            <a:r>
              <a:rPr lang="en-US" dirty="0">
                <a:solidFill>
                  <a:schemeClr val="bg1"/>
                </a:solidFill>
              </a:rPr>
              <a:t>Receive notifications</a:t>
            </a:r>
          </a:p>
        </p:txBody>
      </p:sp>
    </p:spTree>
    <p:extLst>
      <p:ext uri="{BB962C8B-B14F-4D97-AF65-F5344CB8AC3E}">
        <p14:creationId xmlns:p14="http://schemas.microsoft.com/office/powerpoint/2010/main" val="2696929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B6AB01D-17C2-0CB4-9C6E-198CFCE2E203}"/>
              </a:ext>
            </a:extLst>
          </p:cNvPr>
          <p:cNvPicPr>
            <a:picLocks noChangeAspect="1"/>
          </p:cNvPicPr>
          <p:nvPr/>
        </p:nvPicPr>
        <p:blipFill>
          <a:blip r:embed="rId2"/>
          <a:srcRect t="11233" b="20374"/>
          <a:stretch>
            <a:fillRect/>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7" name="TextBox 6">
            <a:extLst>
              <a:ext uri="{FF2B5EF4-FFF2-40B4-BE49-F238E27FC236}">
                <a16:creationId xmlns:a16="http://schemas.microsoft.com/office/drawing/2014/main" id="{61D8F63F-ADDA-35E0-B607-2D11B523633A}"/>
              </a:ext>
            </a:extLst>
          </p:cNvPr>
          <p:cNvSpPr txBox="1"/>
          <p:nvPr/>
        </p:nvSpPr>
        <p:spPr>
          <a:xfrm>
            <a:off x="806825" y="3710613"/>
            <a:ext cx="10827268" cy="2452687"/>
          </a:xfrm>
          <a:prstGeom prst="rect">
            <a:avLst/>
          </a:prstGeom>
        </p:spPr>
        <p:txBody>
          <a:bodyPr vert="horz" lIns="91440" tIns="45720" rIns="91440" bIns="45720" rtlCol="0" anchor="ctr">
            <a:normAutofit fontScale="92500" lnSpcReduction="10000"/>
          </a:bodyPr>
          <a:lstStyle/>
          <a:p>
            <a:pPr indent="-228600">
              <a:lnSpc>
                <a:spcPct val="90000"/>
              </a:lnSpc>
              <a:spcAft>
                <a:spcPts val="600"/>
              </a:spcAft>
              <a:buFont typeface="Arial" panose="020B0604020202020204" pitchFamily="34" charset="0"/>
              <a:buChar char="•"/>
            </a:pPr>
            <a:r>
              <a:rPr lang="en-US" sz="2800" dirty="0"/>
              <a:t>The </a:t>
            </a:r>
            <a:r>
              <a:rPr lang="en-US" sz="2800" b="1" dirty="0"/>
              <a:t>Admin</a:t>
            </a:r>
            <a:r>
              <a:rPr lang="en-US" sz="2800" dirty="0"/>
              <a:t> is the primary administrator responsible for managing and operating the Learning Management System (LMS). They have full authority to control all system elements, including managing users (students and instructors), creating and modifying courses, managing academic terms, monitoring course registrations. The Admin can also add and delete accounts, activate and deactivate users, and ensure the smooth and effective operation of the learning process within the platform.</a:t>
            </a:r>
          </a:p>
        </p:txBody>
      </p:sp>
    </p:spTree>
    <p:extLst>
      <p:ext uri="{BB962C8B-B14F-4D97-AF65-F5344CB8AC3E}">
        <p14:creationId xmlns:p14="http://schemas.microsoft.com/office/powerpoint/2010/main" val="2715912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282E95D-6AA0-A663-2C58-2F0AD8C6A9F5}"/>
              </a:ext>
            </a:extLst>
          </p:cNvPr>
          <p:cNvPicPr>
            <a:picLocks noChangeAspect="1"/>
          </p:cNvPicPr>
          <p:nvPr/>
        </p:nvPicPr>
        <p:blipFill>
          <a:blip r:embed="rId2"/>
          <a:srcRect t="10775" b="13611"/>
          <a:stretch>
            <a:fillRect/>
          </a:stretch>
        </p:blipFill>
        <p:spPr>
          <a:xfrm>
            <a:off x="20" y="1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7" name="TextBox 6">
            <a:extLst>
              <a:ext uri="{FF2B5EF4-FFF2-40B4-BE49-F238E27FC236}">
                <a16:creationId xmlns:a16="http://schemas.microsoft.com/office/drawing/2014/main" id="{002B9FD5-F3E2-C1E5-E3A2-E7449669BE4D}"/>
              </a:ext>
            </a:extLst>
          </p:cNvPr>
          <p:cNvSpPr txBox="1"/>
          <p:nvPr/>
        </p:nvSpPr>
        <p:spPr>
          <a:xfrm>
            <a:off x="720763" y="4054064"/>
            <a:ext cx="10956360" cy="2452687"/>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400" dirty="0"/>
              <a:t>The </a:t>
            </a:r>
            <a:r>
              <a:rPr lang="en-US" sz="2400" b="1" dirty="0"/>
              <a:t>instructor</a:t>
            </a:r>
            <a:r>
              <a:rPr lang="en-US" sz="2400" dirty="0"/>
              <a:t> is responsible for creating and managing educational content within the learning management system (LMS). They have the authority to create courses and lectures, add learning materials (files, videos, links), design tests with various question types (multiple choice, true/false, short answer), monitor student performance through grades and statistics, manage student enrollment lists, and send announcements to students. The instructor can also edit and delete educational content, ensuring an effective and organized learning experience.</a:t>
            </a:r>
          </a:p>
        </p:txBody>
      </p:sp>
    </p:spTree>
    <p:extLst>
      <p:ext uri="{BB962C8B-B14F-4D97-AF65-F5344CB8AC3E}">
        <p14:creationId xmlns:p14="http://schemas.microsoft.com/office/powerpoint/2010/main" val="2068098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48413E2-CFB8-1594-7D6B-97B5835EFD71}"/>
              </a:ext>
            </a:extLst>
          </p:cNvPr>
          <p:cNvPicPr>
            <a:picLocks noChangeAspect="1"/>
          </p:cNvPicPr>
          <p:nvPr/>
        </p:nvPicPr>
        <p:blipFill>
          <a:blip r:embed="rId3"/>
          <a:srcRect t="28196" b="3793"/>
          <a:stretch>
            <a:fillRect/>
          </a:stretch>
        </p:blipFill>
        <p:spPr>
          <a:xfrm>
            <a:off x="0" y="0"/>
            <a:ext cx="12191980" cy="3710603"/>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9" name="TextBox 8">
            <a:extLst>
              <a:ext uri="{FF2B5EF4-FFF2-40B4-BE49-F238E27FC236}">
                <a16:creationId xmlns:a16="http://schemas.microsoft.com/office/drawing/2014/main" id="{E9DF8EE2-4AFF-94DF-2046-569EE3B790F9}"/>
              </a:ext>
            </a:extLst>
          </p:cNvPr>
          <p:cNvSpPr txBox="1"/>
          <p:nvPr/>
        </p:nvSpPr>
        <p:spPr>
          <a:xfrm>
            <a:off x="1113692" y="3752850"/>
            <a:ext cx="10595703" cy="2452687"/>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2400" dirty="0"/>
              <a:t>The </a:t>
            </a:r>
            <a:r>
              <a:rPr lang="en-US" sz="2400" b="1" dirty="0"/>
              <a:t>student</a:t>
            </a:r>
            <a:r>
              <a:rPr lang="en-US" sz="2400" dirty="0"/>
              <a:t> is the primary user who interacts with the learning content within the learning management system. They have the privilege of accessing lectures and learning materials, taking various types of tests, viewing grades and results, tracking their academic progress, and receiving notifications and announcements from instructors. Students can also view their profile, update their information, change their password, and monitor test deadlines, thus providing an interactive and organized learning experience.</a:t>
            </a:r>
          </a:p>
        </p:txBody>
      </p:sp>
    </p:spTree>
    <p:extLst>
      <p:ext uri="{BB962C8B-B14F-4D97-AF65-F5344CB8AC3E}">
        <p14:creationId xmlns:p14="http://schemas.microsoft.com/office/powerpoint/2010/main" val="9871231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BE92CF-6E89-474F-F88B-C6B2E7C3C90E}"/>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B3DE4433-F69D-6F30-DEBE-4F6ADA7A32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BE0471FD-7B5C-E5C4-BE02-3D543CF87D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32A9DEBA-7373-DDD8-BC39-20F2431A1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02B6393E-BB7C-CB0B-BF79-470647054D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49" name="Oval 48">
              <a:extLst>
                <a:ext uri="{FF2B5EF4-FFF2-40B4-BE49-F238E27FC236}">
                  <a16:creationId xmlns:a16="http://schemas.microsoft.com/office/drawing/2014/main" id="{943B5C9B-C767-936F-59C9-4CA120B6DB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E83F0D2E-3693-5AC9-DD69-E4D1396386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CFB7CB5-CB28-FF8E-0201-03002BFEFB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FB2AFC2B-7F3E-101B-B859-600DE5332A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E0FA2993-A146-5778-379D-5FA7A0BB9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F9E0B2E5-DF58-8A8B-62A7-302AF6FFB9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6" name="Rectangle 55">
            <a:extLst>
              <a:ext uri="{FF2B5EF4-FFF2-40B4-BE49-F238E27FC236}">
                <a16:creationId xmlns:a16="http://schemas.microsoft.com/office/drawing/2014/main" id="{3346EEFA-9F52-09B2-8F46-C3770565B6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4" y="1042604"/>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 name="Group 57">
            <a:extLst>
              <a:ext uri="{FF2B5EF4-FFF2-40B4-BE49-F238E27FC236}">
                <a16:creationId xmlns:a16="http://schemas.microsoft.com/office/drawing/2014/main" id="{E58233CB-C69C-0C95-4F44-E901522B00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59" name="Straight Connector 58">
              <a:extLst>
                <a:ext uri="{FF2B5EF4-FFF2-40B4-BE49-F238E27FC236}">
                  <a16:creationId xmlns:a16="http://schemas.microsoft.com/office/drawing/2014/main" id="{5A9CB7F5-B051-899A-0FAA-F7C0581673B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E8677E2-0662-9845-B106-E073BF41F8F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527ECD40-8D0A-7B8C-1C6F-DDC09C425C4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266B57FE-F069-2BD6-BE3F-0C1B255B981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grpSp>
        <p:nvGrpSpPr>
          <p:cNvPr id="64" name="Group 63">
            <a:extLst>
              <a:ext uri="{FF2B5EF4-FFF2-40B4-BE49-F238E27FC236}">
                <a16:creationId xmlns:a16="http://schemas.microsoft.com/office/drawing/2014/main" id="{53A7326E-D037-C84C-1271-5CF16677426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65" name="Straight Connector 64">
              <a:extLst>
                <a:ext uri="{FF2B5EF4-FFF2-40B4-BE49-F238E27FC236}">
                  <a16:creationId xmlns:a16="http://schemas.microsoft.com/office/drawing/2014/main" id="{6B4408CB-BC76-AD9C-FC17-D19FDEF2FAD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70218B7-9A16-FA15-D616-696D14BD380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60FBA4C1-D102-4690-0205-3F8CE4784DE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E30F438E-8288-CE23-E997-E642AF9CEC6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1B1391AD-D63D-1B9B-4AFB-CCAA92C66440}"/>
              </a:ext>
            </a:extLst>
          </p:cNvPr>
          <p:cNvSpPr>
            <a:spLocks noGrp="1"/>
          </p:cNvSpPr>
          <p:nvPr>
            <p:ph type="title"/>
          </p:nvPr>
        </p:nvSpPr>
        <p:spPr>
          <a:xfrm>
            <a:off x="630936" y="630936"/>
            <a:ext cx="4989918" cy="5478640"/>
          </a:xfrm>
          <a:noFill/>
        </p:spPr>
        <p:txBody>
          <a:bodyPr anchor="ctr">
            <a:normAutofit/>
          </a:bodyPr>
          <a:lstStyle/>
          <a:p>
            <a:r>
              <a:rPr lang="en-US" sz="4800" b="1" dirty="0">
                <a:solidFill>
                  <a:schemeClr val="accent2"/>
                </a:solidFill>
              </a:rPr>
              <a:t>Tools: </a:t>
            </a:r>
          </a:p>
        </p:txBody>
      </p:sp>
      <p:sp>
        <p:nvSpPr>
          <p:cNvPr id="70" name="Rectangle 69">
            <a:extLst>
              <a:ext uri="{FF2B5EF4-FFF2-40B4-BE49-F238E27FC236}">
                <a16:creationId xmlns:a16="http://schemas.microsoft.com/office/drawing/2014/main" id="{BDD716BB-67A5-6A3C-4383-56FAF014A6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801066" y="497785"/>
            <a:ext cx="5678424" cy="5674840"/>
          </a:xfrm>
          <a:prstGeom prst="rect">
            <a:avLst/>
          </a:prstGeom>
          <a:gradFill flip="none" rotWithShape="1">
            <a:gsLst>
              <a:gs pos="0">
                <a:schemeClr val="tx1">
                  <a:alpha val="20000"/>
                </a:schemeClr>
              </a:gs>
              <a:gs pos="100000">
                <a:schemeClr val="tx1">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61A258B-9C00-6D89-E9EA-240AD1091E31}"/>
              </a:ext>
            </a:extLst>
          </p:cNvPr>
          <p:cNvSpPr>
            <a:spLocks noGrp="1"/>
          </p:cNvSpPr>
          <p:nvPr>
            <p:ph idx="1"/>
          </p:nvPr>
        </p:nvSpPr>
        <p:spPr>
          <a:xfrm>
            <a:off x="6041946" y="630936"/>
            <a:ext cx="4982273" cy="5478672"/>
          </a:xfrm>
          <a:noFill/>
        </p:spPr>
        <p:txBody>
          <a:bodyPr anchor="ctr">
            <a:normAutofit/>
          </a:bodyPr>
          <a:lstStyle/>
          <a:p>
            <a:r>
              <a:rPr lang="en-US" b="1" dirty="0">
                <a:solidFill>
                  <a:schemeClr val="bg1"/>
                </a:solidFill>
              </a:rPr>
              <a:t>Frontend</a:t>
            </a:r>
            <a:endParaRPr lang="en-US" dirty="0">
              <a:solidFill>
                <a:schemeClr val="bg1"/>
              </a:solidFill>
            </a:endParaRPr>
          </a:p>
          <a:p>
            <a:pPr lvl="1"/>
            <a:r>
              <a:rPr lang="en-US" dirty="0">
                <a:solidFill>
                  <a:schemeClr val="bg1"/>
                </a:solidFill>
              </a:rPr>
              <a:t>HTML</a:t>
            </a:r>
          </a:p>
          <a:p>
            <a:pPr lvl="1"/>
            <a:r>
              <a:rPr lang="en-US" dirty="0">
                <a:solidFill>
                  <a:schemeClr val="bg1"/>
                </a:solidFill>
              </a:rPr>
              <a:t>CSS</a:t>
            </a:r>
          </a:p>
          <a:p>
            <a:pPr lvl="1"/>
            <a:r>
              <a:rPr lang="en-US" dirty="0">
                <a:solidFill>
                  <a:schemeClr val="bg1"/>
                </a:solidFill>
              </a:rPr>
              <a:t>JavaScript</a:t>
            </a:r>
          </a:p>
          <a:p>
            <a:pPr lvl="1"/>
            <a:r>
              <a:rPr lang="en-US" dirty="0">
                <a:solidFill>
                  <a:schemeClr val="bg1"/>
                </a:solidFill>
              </a:rPr>
              <a:t>Bootstrap</a:t>
            </a:r>
          </a:p>
          <a:p>
            <a:r>
              <a:rPr lang="en-US" b="1" dirty="0">
                <a:solidFill>
                  <a:schemeClr val="bg1"/>
                </a:solidFill>
              </a:rPr>
              <a:t>Backend</a:t>
            </a:r>
            <a:endParaRPr lang="en-US" dirty="0">
              <a:solidFill>
                <a:schemeClr val="bg1"/>
              </a:solidFill>
            </a:endParaRPr>
          </a:p>
          <a:p>
            <a:pPr lvl="1"/>
            <a:r>
              <a:rPr lang="en-US" dirty="0">
                <a:solidFill>
                  <a:schemeClr val="bg1"/>
                </a:solidFill>
              </a:rPr>
              <a:t>ASP.NET MVC</a:t>
            </a:r>
          </a:p>
          <a:p>
            <a:pPr lvl="1"/>
            <a:r>
              <a:rPr lang="en-US" dirty="0">
                <a:solidFill>
                  <a:schemeClr val="bg1"/>
                </a:solidFill>
              </a:rPr>
              <a:t>C#</a:t>
            </a:r>
          </a:p>
          <a:p>
            <a:r>
              <a:rPr lang="en-US" b="1" dirty="0">
                <a:solidFill>
                  <a:schemeClr val="bg1"/>
                </a:solidFill>
              </a:rPr>
              <a:t>Database</a:t>
            </a:r>
            <a:endParaRPr lang="en-US" dirty="0">
              <a:solidFill>
                <a:schemeClr val="bg1"/>
              </a:solidFill>
            </a:endParaRPr>
          </a:p>
          <a:p>
            <a:pPr lvl="1"/>
            <a:r>
              <a:rPr lang="en-US" dirty="0">
                <a:solidFill>
                  <a:schemeClr val="bg1"/>
                </a:solidFill>
              </a:rPr>
              <a:t>Microsoft SQL Server</a:t>
            </a:r>
          </a:p>
          <a:p>
            <a:r>
              <a:rPr lang="en-US" b="1" dirty="0">
                <a:solidFill>
                  <a:schemeClr val="bg1"/>
                </a:solidFill>
              </a:rPr>
              <a:t>Other</a:t>
            </a:r>
            <a:endParaRPr lang="en-US" dirty="0">
              <a:solidFill>
                <a:schemeClr val="bg1"/>
              </a:solidFill>
            </a:endParaRPr>
          </a:p>
          <a:p>
            <a:pPr lvl="1"/>
            <a:r>
              <a:rPr lang="en-US" dirty="0">
                <a:solidFill>
                  <a:schemeClr val="bg1"/>
                </a:solidFill>
              </a:rPr>
              <a:t>GitHub (Version control)</a:t>
            </a:r>
          </a:p>
          <a:p>
            <a:pPr lvl="1"/>
            <a:endParaRPr lang="en-US" dirty="0">
              <a:solidFill>
                <a:schemeClr val="bg1"/>
              </a:solidFill>
            </a:endParaRPr>
          </a:p>
        </p:txBody>
      </p:sp>
    </p:spTree>
    <p:extLst>
      <p:ext uri="{BB962C8B-B14F-4D97-AF65-F5344CB8AC3E}">
        <p14:creationId xmlns:p14="http://schemas.microsoft.com/office/powerpoint/2010/main" val="10499720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B435A0-E441-018C-8C82-85EA7A9AFD67}"/>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7FFF5A6B-6730-68C1-D073-D8B3E38DE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71B253B2-E4F9-FC03-DFA9-5284CC7B7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FABD2C4E-D4AE-5B0E-AB0D-E40466DBD4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6A100E7E-618A-0081-D1D9-2C0C44FE5C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49" name="Oval 48">
              <a:extLst>
                <a:ext uri="{FF2B5EF4-FFF2-40B4-BE49-F238E27FC236}">
                  <a16:creationId xmlns:a16="http://schemas.microsoft.com/office/drawing/2014/main" id="{D763CCF2-95A2-7448-B5A8-61A27B1A59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CFF6CDC3-5BCA-6BE1-AF47-3837E140C1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15361F34-336B-668C-59C2-93C5A0FA68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303058F5-2AC6-A89C-1761-17E46F15A0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816CEEBE-E959-B6AE-2058-41A8ABF585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1E7BAFC6-6D75-3956-404A-7547E4B0C4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6" name="Rectangle 55">
            <a:extLst>
              <a:ext uri="{FF2B5EF4-FFF2-40B4-BE49-F238E27FC236}">
                <a16:creationId xmlns:a16="http://schemas.microsoft.com/office/drawing/2014/main" id="{7FF91FBF-6481-542F-A56F-D532F18727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4" y="1042604"/>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 name="Group 57">
            <a:extLst>
              <a:ext uri="{FF2B5EF4-FFF2-40B4-BE49-F238E27FC236}">
                <a16:creationId xmlns:a16="http://schemas.microsoft.com/office/drawing/2014/main" id="{77B42AF7-160F-3796-A550-9E81F14852A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59" name="Straight Connector 58">
              <a:extLst>
                <a:ext uri="{FF2B5EF4-FFF2-40B4-BE49-F238E27FC236}">
                  <a16:creationId xmlns:a16="http://schemas.microsoft.com/office/drawing/2014/main" id="{8C4054C1-227E-AB88-DB71-B0CE1043F9C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162B28D2-512D-CAA4-1391-A7C391C2B70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EC39DFCE-3867-A763-72AA-68166A37FB4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DC05195-A02E-C6E3-2AC2-82526560031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grpSp>
        <p:nvGrpSpPr>
          <p:cNvPr id="64" name="Group 63">
            <a:extLst>
              <a:ext uri="{FF2B5EF4-FFF2-40B4-BE49-F238E27FC236}">
                <a16:creationId xmlns:a16="http://schemas.microsoft.com/office/drawing/2014/main" id="{593B89A7-7FE9-7DBB-BCC3-F6CF03639F5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65" name="Straight Connector 64">
              <a:extLst>
                <a:ext uri="{FF2B5EF4-FFF2-40B4-BE49-F238E27FC236}">
                  <a16:creationId xmlns:a16="http://schemas.microsoft.com/office/drawing/2014/main" id="{817960FA-5CD6-BF2D-891D-697B59166B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62A485B8-27B9-5129-1056-142040A060F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CE6B0789-EE31-C73F-E04C-6AD6B395430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D12007A-9E2F-8FBC-67BF-F6F313D7B47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005151B8-BBB5-89C7-028F-9E5F5A631F13}"/>
              </a:ext>
            </a:extLst>
          </p:cNvPr>
          <p:cNvSpPr>
            <a:spLocks noGrp="1"/>
          </p:cNvSpPr>
          <p:nvPr>
            <p:ph type="title"/>
          </p:nvPr>
        </p:nvSpPr>
        <p:spPr>
          <a:xfrm>
            <a:off x="630936" y="630936"/>
            <a:ext cx="4989918" cy="5478640"/>
          </a:xfrm>
          <a:noFill/>
        </p:spPr>
        <p:txBody>
          <a:bodyPr anchor="ctr">
            <a:normAutofit/>
          </a:bodyPr>
          <a:lstStyle/>
          <a:p>
            <a:r>
              <a:rPr lang="en-US" sz="4800" b="1" dirty="0">
                <a:solidFill>
                  <a:schemeClr val="accent2"/>
                </a:solidFill>
              </a:rPr>
              <a:t>Future Work:</a:t>
            </a:r>
          </a:p>
        </p:txBody>
      </p:sp>
      <p:sp>
        <p:nvSpPr>
          <p:cNvPr id="70" name="Rectangle 69">
            <a:extLst>
              <a:ext uri="{FF2B5EF4-FFF2-40B4-BE49-F238E27FC236}">
                <a16:creationId xmlns:a16="http://schemas.microsoft.com/office/drawing/2014/main" id="{52EFED13-69B9-C486-8AD2-DF49E6C6B8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801066" y="497785"/>
            <a:ext cx="5678424" cy="5674840"/>
          </a:xfrm>
          <a:prstGeom prst="rect">
            <a:avLst/>
          </a:prstGeom>
          <a:gradFill flip="none" rotWithShape="1">
            <a:gsLst>
              <a:gs pos="0">
                <a:schemeClr val="tx1">
                  <a:alpha val="20000"/>
                </a:schemeClr>
              </a:gs>
              <a:gs pos="100000">
                <a:schemeClr val="tx1">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029D205-608A-76B2-5B51-9EAE314D1CB6}"/>
              </a:ext>
            </a:extLst>
          </p:cNvPr>
          <p:cNvSpPr>
            <a:spLocks noGrp="1"/>
          </p:cNvSpPr>
          <p:nvPr>
            <p:ph idx="1"/>
          </p:nvPr>
        </p:nvSpPr>
        <p:spPr>
          <a:xfrm>
            <a:off x="6041946" y="630936"/>
            <a:ext cx="4982273" cy="5478672"/>
          </a:xfrm>
          <a:noFill/>
        </p:spPr>
        <p:txBody>
          <a:bodyPr anchor="ctr">
            <a:normAutofit/>
          </a:bodyPr>
          <a:lstStyle/>
          <a:p>
            <a:r>
              <a:rPr lang="en-US" b="1" dirty="0">
                <a:solidFill>
                  <a:schemeClr val="bg1"/>
                </a:solidFill>
              </a:rPr>
              <a:t>1. AI Integration (planned)</a:t>
            </a:r>
          </a:p>
          <a:p>
            <a:pPr lvl="1"/>
            <a:r>
              <a:rPr lang="en-US" dirty="0">
                <a:solidFill>
                  <a:schemeClr val="bg1"/>
                </a:solidFill>
              </a:rPr>
              <a:t>(Not included in MVP)</a:t>
            </a:r>
          </a:p>
          <a:p>
            <a:pPr lvl="1"/>
            <a:r>
              <a:rPr lang="en-US" dirty="0">
                <a:solidFill>
                  <a:schemeClr val="bg1"/>
                </a:solidFill>
              </a:rPr>
              <a:t>AI quiz generator</a:t>
            </a:r>
          </a:p>
          <a:p>
            <a:pPr lvl="1"/>
            <a:r>
              <a:rPr lang="en-US" dirty="0">
                <a:solidFill>
                  <a:schemeClr val="bg1"/>
                </a:solidFill>
              </a:rPr>
              <a:t>AI course assistant</a:t>
            </a:r>
          </a:p>
          <a:p>
            <a:pPr lvl="1"/>
            <a:r>
              <a:rPr lang="en-US" dirty="0">
                <a:solidFill>
                  <a:schemeClr val="bg1"/>
                </a:solidFill>
              </a:rPr>
              <a:t>Scheduler Generator</a:t>
            </a:r>
          </a:p>
          <a:p>
            <a:r>
              <a:rPr lang="en-US" b="1" dirty="0">
                <a:solidFill>
                  <a:schemeClr val="bg1"/>
                </a:solidFill>
              </a:rPr>
              <a:t>2. Assignment System</a:t>
            </a:r>
          </a:p>
          <a:p>
            <a:pPr lvl="1"/>
            <a:r>
              <a:rPr lang="en-US" dirty="0">
                <a:solidFill>
                  <a:schemeClr val="bg1"/>
                </a:solidFill>
              </a:rPr>
              <a:t>Upload PDFs</a:t>
            </a:r>
          </a:p>
          <a:p>
            <a:pPr lvl="1"/>
            <a:r>
              <a:rPr lang="en-US" dirty="0">
                <a:solidFill>
                  <a:schemeClr val="bg1"/>
                </a:solidFill>
              </a:rPr>
              <a:t>Grading workflow</a:t>
            </a:r>
          </a:p>
          <a:p>
            <a:pPr lvl="1"/>
            <a:r>
              <a:rPr lang="en-US" dirty="0">
                <a:solidFill>
                  <a:schemeClr val="bg1"/>
                </a:solidFill>
              </a:rPr>
              <a:t>Feedback delivery</a:t>
            </a:r>
          </a:p>
          <a:p>
            <a:r>
              <a:rPr lang="en-US" b="1" dirty="0">
                <a:solidFill>
                  <a:schemeClr val="bg1"/>
                </a:solidFill>
              </a:rPr>
              <a:t>3. Real-Time Notification System</a:t>
            </a:r>
          </a:p>
        </p:txBody>
      </p:sp>
    </p:spTree>
    <p:extLst>
      <p:ext uri="{BB962C8B-B14F-4D97-AF65-F5344CB8AC3E}">
        <p14:creationId xmlns:p14="http://schemas.microsoft.com/office/powerpoint/2010/main" val="11113380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318E07F-8F3E-B97E-EBBF-FC44F2D1BB47}"/>
            </a:ext>
          </a:extLst>
        </p:cNvPr>
        <p:cNvGrpSpPr/>
        <p:nvPr/>
      </p:nvGrpSpPr>
      <p:grpSpPr>
        <a:xfrm>
          <a:off x="0" y="0"/>
          <a:ext cx="0" cy="0"/>
          <a:chOff x="0" y="0"/>
          <a:chExt cx="0" cy="0"/>
        </a:xfrm>
      </p:grpSpPr>
      <p:sp>
        <p:nvSpPr>
          <p:cNvPr id="42" name="Rectangle 41">
            <a:extLst>
              <a:ext uri="{FF2B5EF4-FFF2-40B4-BE49-F238E27FC236}">
                <a16:creationId xmlns:a16="http://schemas.microsoft.com/office/drawing/2014/main" id="{04D8BBD7-2795-5152-A137-6D7060E194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3A666480-DF1C-72E4-EAA0-5CCC31D940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3332F6BE-7731-5C80-16F6-A9295A88C3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A65B86FD-C09B-556D-89B9-E638647924A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49" name="Oval 48">
              <a:extLst>
                <a:ext uri="{FF2B5EF4-FFF2-40B4-BE49-F238E27FC236}">
                  <a16:creationId xmlns:a16="http://schemas.microsoft.com/office/drawing/2014/main" id="{38C50FED-3D7A-0EA4-E920-B1C9ADCC7F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BC1A4726-3F9A-AA5E-15BF-0DC9C344B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D04C0057-AB12-D28B-C807-C1C2070025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E7F61E4B-DAB1-8885-697A-929F9ACAEC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3888ADFD-0279-F8BC-A160-D7AB773DC5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7A7567AE-62F6-DD06-366C-34A8E99D48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6" name="Rectangle 55">
            <a:extLst>
              <a:ext uri="{FF2B5EF4-FFF2-40B4-BE49-F238E27FC236}">
                <a16:creationId xmlns:a16="http://schemas.microsoft.com/office/drawing/2014/main" id="{ABFCA318-1D56-3587-D28F-34132176D9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4" y="1042604"/>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 name="Group 57">
            <a:extLst>
              <a:ext uri="{FF2B5EF4-FFF2-40B4-BE49-F238E27FC236}">
                <a16:creationId xmlns:a16="http://schemas.microsoft.com/office/drawing/2014/main" id="{EB73CDDF-0DFF-381D-F6F4-F0C003E58E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59" name="Straight Connector 58">
              <a:extLst>
                <a:ext uri="{FF2B5EF4-FFF2-40B4-BE49-F238E27FC236}">
                  <a16:creationId xmlns:a16="http://schemas.microsoft.com/office/drawing/2014/main" id="{6E154520-B2AB-90E6-CCB3-09F31CF79AB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5E05603-701B-8059-1A41-7E0B464C565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15A2B4DD-23D5-276B-D883-2CB32DABB33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39C89386-2ABD-5BF8-1440-D472A811A8F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grpSp>
        <p:nvGrpSpPr>
          <p:cNvPr id="64" name="Group 63">
            <a:extLst>
              <a:ext uri="{FF2B5EF4-FFF2-40B4-BE49-F238E27FC236}">
                <a16:creationId xmlns:a16="http://schemas.microsoft.com/office/drawing/2014/main" id="{C5196F3F-EBFC-2B8E-3557-0F826EC15B8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65" name="Straight Connector 64">
              <a:extLst>
                <a:ext uri="{FF2B5EF4-FFF2-40B4-BE49-F238E27FC236}">
                  <a16:creationId xmlns:a16="http://schemas.microsoft.com/office/drawing/2014/main" id="{6CD5B339-32FD-3151-5D3F-20F4B7988D2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EDA5DD81-E988-549E-3D48-DCA18B75A3F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2B59FC4-5170-7B3D-8E87-42417880ED1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276CE23C-649E-C7D5-6E56-D7D02FD897E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15E826FF-6620-AB42-6920-05317F6DC395}"/>
              </a:ext>
            </a:extLst>
          </p:cNvPr>
          <p:cNvSpPr>
            <a:spLocks noGrp="1"/>
          </p:cNvSpPr>
          <p:nvPr>
            <p:ph type="title"/>
          </p:nvPr>
        </p:nvSpPr>
        <p:spPr>
          <a:xfrm>
            <a:off x="4734208" y="698758"/>
            <a:ext cx="4989918" cy="5478640"/>
          </a:xfrm>
          <a:noFill/>
        </p:spPr>
        <p:txBody>
          <a:bodyPr anchor="ctr">
            <a:normAutofit/>
          </a:bodyPr>
          <a:lstStyle/>
          <a:p>
            <a:r>
              <a:rPr lang="en-US" sz="4800" b="1" dirty="0">
                <a:solidFill>
                  <a:schemeClr val="accent2"/>
                </a:solidFill>
              </a:rPr>
              <a:t>Thank You</a:t>
            </a:r>
          </a:p>
        </p:txBody>
      </p:sp>
      <p:sp>
        <p:nvSpPr>
          <p:cNvPr id="70" name="Rectangle 69">
            <a:extLst>
              <a:ext uri="{FF2B5EF4-FFF2-40B4-BE49-F238E27FC236}">
                <a16:creationId xmlns:a16="http://schemas.microsoft.com/office/drawing/2014/main" id="{6B72E154-BA14-065F-0DDC-BB7FF5B5D7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801066" y="497785"/>
            <a:ext cx="5678424" cy="5674840"/>
          </a:xfrm>
          <a:prstGeom prst="rect">
            <a:avLst/>
          </a:prstGeom>
          <a:gradFill flip="none" rotWithShape="1">
            <a:gsLst>
              <a:gs pos="0">
                <a:schemeClr val="tx1">
                  <a:alpha val="20000"/>
                </a:schemeClr>
              </a:gs>
              <a:gs pos="100000">
                <a:schemeClr val="tx1">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044986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281</TotalTime>
  <Words>740</Words>
  <Application>Microsoft Office PowerPoint</Application>
  <PresentationFormat>Widescreen</PresentationFormat>
  <Paragraphs>114</Paragraphs>
  <Slides>14</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Academix  Learning Management System (LMS)</vt:lpstr>
      <vt:lpstr>PowerPoint Presentation</vt:lpstr>
      <vt:lpstr>Problem Statement:</vt:lpstr>
      <vt:lpstr>Why This Project?</vt:lpstr>
      <vt:lpstr>Functional Requirements:</vt:lpstr>
      <vt:lpstr>Functional Requirements:</vt:lpstr>
      <vt:lpstr>Non-Functional Requirements:</vt:lpstr>
      <vt:lpstr>System Roles:</vt:lpstr>
      <vt:lpstr>PowerPoint Presentation</vt:lpstr>
      <vt:lpstr>PowerPoint Presentation</vt:lpstr>
      <vt:lpstr>PowerPoint Presentation</vt:lpstr>
      <vt:lpstr>Tools: </vt:lpstr>
      <vt:lpstr>Future Work:</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abdelrahman saad</dc:creator>
  <cp:lastModifiedBy>Moataz Mohammed Mohammed</cp:lastModifiedBy>
  <cp:revision>7</cp:revision>
  <dcterms:created xsi:type="dcterms:W3CDTF">2025-12-05T00:58:35Z</dcterms:created>
  <dcterms:modified xsi:type="dcterms:W3CDTF">2025-12-05T20:06:50Z</dcterms:modified>
</cp:coreProperties>
</file>